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in one sentence: CloudWiseAI helps a small business see where its AWS money goes, predicts the next three months of spend, flags unusual spending and recommends concrete savings. Name the team members.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problem. An MSME on AWS typically has no dedicated FinOps person. The native console shows history, not a forecast and not an explanation of waste. That is the gap this project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decision aids. All numbers are from the synthetic dataset and are optimistic; we say so explicitly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reviewed 15 recent papers from MDPI, Springer, Nature Portfolio and Emerald. Our claim is modest: we do not invent a new forecasting algorithm; the contribution is an integrated, evaluated workflow for MSMEs.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flow left to right: data in, three analyses, API, dashboard. The assistant is optional and reads a compact snapshot of the user’s own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this is the designed architecture for region ap-south-1 and we have a one-script EC2 setup and a step-by-step guide, but we have not yet run the live deployment. Lambda ingestion, SageMaker and QuickSight from the original target design are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clearly that the data is synthetic. The anomaly labels are used only to evaluate the detector. A real CUR export can be mapped to the same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plain rolling 3-sigma rule flags every weekday dip and spike, which is why it raises 57 false-alarm events. Comparing each day with the same weekday in earlier weeks removes that. The injected anomalies are large, so a perfect score here will not carry over to real invoices.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candidates were compared with the same backtest and the simplest good one was chosen. XGBoost added nothing because no nonlinear structure is left in the residuals. The UI shows measured backtest accuracy, not a statistical confidence interval.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savings come from documented rules, for example CPU utilisation thresholds for right-sizing and typical Savings Plan discounts. They are estimates to be checked, not guarantees.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screenshots from the application running locally on 16 October 2026 against the PostgreSQL database loaded with the dataset. Other pages: cost analysis, utilization, anomalies, predictions and the 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table T01 to T14 is in the report. T09, T10 and T11 are the deployment checks and are marked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direct: the AWS account is created and the kit is in the repository under src/aws, but the services themselves have not been created yet. The cost number is an approximate, unverified estimate for continuous running; the real spend for a short demo is a fraction of it and fits within the new-account credits.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deliverable is a working, evaluated prototype, not a production service. State this before anyone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Repository link for the code, dataset, results and the AWS deployment kit under src/aws.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9525000" cy="83820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955800"/>
            <a:ext cx="10566400" cy="408940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9525000" cy="83820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955800"/>
            <a:ext cx="10566400" cy="408940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B"/>
        </a:solidFill>
      </p:bgPr>
    </p:bg>
    <p:spTree>
      <p:nvGrpSpPr>
        <p:cNvPr id="1" name=""/>
        <p:cNvGrpSpPr/>
        <p:nvPr/>
      </p:nvGrpSpPr>
      <p:grpSpPr>
        <a:xfrm>
          <a:off x="0" y="0"/>
          <a:ext cx="0" cy="0"/>
          <a:chOff x="0" y="0"/>
          <a:chExt cx="0" cy="0"/>
        </a:xfrm>
      </p:grpSpPr>
      <p:sp>
        <p:nvSpPr>
          <p:cNvPr id="2" name="Text 0"/>
          <p:cNvSpPr/>
          <p:nvPr/>
        </p:nvSpPr>
        <p:spPr>
          <a:xfrm>
            <a:off x="812800" y="1439228"/>
            <a:ext cx="10883392" cy="292100"/>
          </a:xfrm>
          <a:prstGeom prst="rect">
            <a:avLst/>
          </a:prstGeom>
          <a:noFill/>
          <a:ln/>
        </p:spPr>
        <p:txBody>
          <a:bodyPr wrap="square" lIns="0" tIns="0" rIns="0" bIns="0" rtlCol="0" anchor="t">
            <a:normAutofit/>
          </a:bodyPr>
          <a:lstStyle/>
          <a:p>
            <a:pPr algn="l" indent="0" marL="0">
              <a:lnSpc>
                <a:spcPts val="2100"/>
              </a:lnSpc>
              <a:buNone/>
            </a:pPr>
            <a:r>
              <a:rPr lang="en-US" sz="1500" spc="100" kern="0" dirty="0">
                <a:solidFill>
                  <a:srgbClr val="3CC8C0"/>
                </a:solidFill>
                <a:latin typeface="DM Sans" pitchFamily="34" charset="0"/>
                <a:ea typeface="DM Sans" pitchFamily="34" charset="-122"/>
                <a:cs typeface="DM Sans" pitchFamily="34" charset="-120"/>
              </a:rPr>
              <a:t>BCSE355L · CLOUD ARCHITECTURE DESIGN · TEAM 3</a:t>
            </a:r>
            <a:endParaRPr lang="en-US" sz="1500" dirty="0"/>
          </a:p>
        </p:txBody>
      </p:sp>
      <p:sp>
        <p:nvSpPr>
          <p:cNvPr id="3" name="Text 1"/>
          <p:cNvSpPr/>
          <p:nvPr>
            <p:ph type="title"/>
          </p:nvPr>
        </p:nvSpPr>
        <p:spPr>
          <a:xfrm>
            <a:off x="812800" y="1934527"/>
            <a:ext cx="10883392" cy="1025525"/>
          </a:xfrm>
          <a:prstGeom prst="rect">
            <a:avLst/>
          </a:prstGeom>
          <a:noFill/>
          <a:ln/>
        </p:spPr>
        <p:txBody>
          <a:bodyPr wrap="square" lIns="0" tIns="0" rIns="0" bIns="0" rtlCol="0" anchor="t">
            <a:normAutofit/>
          </a:bodyPr>
          <a:lstStyle/>
          <a:p>
            <a:pPr algn="l" indent="0" marL="0">
              <a:lnSpc>
                <a:spcPts val="7875"/>
              </a:lnSpc>
              <a:buNone/>
            </a:pPr>
            <a:r>
              <a:rPr lang="en-US" sz="7500" b="1" i="0" dirty="0">
                <a:solidFill>
                  <a:srgbClr val="F5F4EE"/>
                </a:solidFill>
                <a:latin typeface="DM Sans" pitchFamily="34" charset="0"/>
                <a:ea typeface="DM Sans" pitchFamily="34" charset="-122"/>
                <a:cs typeface="DM Sans" pitchFamily="34" charset="-120"/>
              </a:rPr>
              <a:t>CloudWiseAI</a:t>
            </a:r>
            <a:endParaRPr lang="en-US" sz="7500" dirty="0"/>
          </a:p>
        </p:txBody>
      </p:sp>
      <p:sp>
        <p:nvSpPr>
          <p:cNvPr id="4" name="Text 2"/>
          <p:cNvSpPr/>
          <p:nvPr/>
        </p:nvSpPr>
        <p:spPr>
          <a:xfrm>
            <a:off x="812800" y="3163252"/>
            <a:ext cx="9156700" cy="787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D9DEE6"/>
                </a:solidFill>
                <a:latin typeface="DM Sans" pitchFamily="34" charset="0"/>
                <a:ea typeface="DM Sans" pitchFamily="34" charset="-122"/>
                <a:cs typeface="DM Sans" pitchFamily="34" charset="-120"/>
              </a:rPr>
              <a:t>AI-based FinOps framework for MSME cloud cost optimization using predictive analysis</a:t>
            </a:r>
            <a:endParaRPr lang="en-US" sz="2400" dirty="0"/>
          </a:p>
        </p:txBody>
      </p:sp>
      <p:sp>
        <p:nvSpPr>
          <p:cNvPr id="5" name="Text 3"/>
          <p:cNvSpPr/>
          <p:nvPr/>
        </p:nvSpPr>
        <p:spPr>
          <a:xfrm>
            <a:off x="812800" y="4407853"/>
            <a:ext cx="135096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4EE"/>
                </a:solidFill>
                <a:latin typeface="DM Sans" pitchFamily="34" charset="0"/>
                <a:ea typeface="DM Sans" pitchFamily="34" charset="-122"/>
                <a:cs typeface="DM Sans" pitchFamily="34" charset="-120"/>
              </a:rPr>
              <a:t>Rahul Ganesan</a:t>
            </a:r>
            <a:endParaRPr lang="en-US" sz="1500" dirty="0"/>
          </a:p>
          <a:p>
            <a:pPr algn="l" indent="0" marL="0">
              <a:lnSpc>
                <a:spcPts val="2100"/>
              </a:lnSpc>
              <a:buNone/>
            </a:pPr>
            <a:r>
              <a:rPr lang="en-US" sz="1500" dirty="0">
                <a:solidFill>
                  <a:srgbClr val="9FB0C3"/>
                </a:solidFill>
                <a:latin typeface="DM Sans" pitchFamily="34" charset="0"/>
                <a:ea typeface="DM Sans" pitchFamily="34" charset="-122"/>
                <a:cs typeface="DM Sans" pitchFamily="34" charset="-120"/>
              </a:rPr>
              <a:t>24BIT0257</a:t>
            </a:r>
            <a:endParaRPr lang="en-US" sz="1500" dirty="0"/>
          </a:p>
        </p:txBody>
      </p:sp>
      <p:sp>
        <p:nvSpPr>
          <p:cNvPr id="6" name="Text 4"/>
          <p:cNvSpPr/>
          <p:nvPr/>
        </p:nvSpPr>
        <p:spPr>
          <a:xfrm>
            <a:off x="2468563" y="4407853"/>
            <a:ext cx="128984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4EE"/>
                </a:solidFill>
                <a:latin typeface="DM Sans" pitchFamily="34" charset="0"/>
                <a:ea typeface="DM Sans" pitchFamily="34" charset="-122"/>
                <a:cs typeface="DM Sans" pitchFamily="34" charset="-120"/>
              </a:rPr>
              <a:t>Ridhima Singh</a:t>
            </a:r>
            <a:endParaRPr lang="en-US" sz="1500" dirty="0"/>
          </a:p>
          <a:p>
            <a:pPr algn="l" indent="0" marL="0">
              <a:lnSpc>
                <a:spcPts val="2100"/>
              </a:lnSpc>
              <a:buNone/>
            </a:pPr>
            <a:r>
              <a:rPr lang="en-US" sz="1500" dirty="0">
                <a:solidFill>
                  <a:srgbClr val="9FB0C3"/>
                </a:solidFill>
                <a:latin typeface="DM Sans" pitchFamily="34" charset="0"/>
                <a:ea typeface="DM Sans" pitchFamily="34" charset="-122"/>
                <a:cs typeface="DM Sans" pitchFamily="34" charset="-120"/>
              </a:rPr>
              <a:t>24BIT0260</a:t>
            </a:r>
            <a:endParaRPr lang="en-US" sz="1500" dirty="0"/>
          </a:p>
        </p:txBody>
      </p:sp>
      <p:sp>
        <p:nvSpPr>
          <p:cNvPr id="7" name="Text 5"/>
          <p:cNvSpPr/>
          <p:nvPr/>
        </p:nvSpPr>
        <p:spPr>
          <a:xfrm>
            <a:off x="4063206" y="4407853"/>
            <a:ext cx="1395571"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4EE"/>
                </a:solidFill>
                <a:latin typeface="DM Sans" pitchFamily="34" charset="0"/>
                <a:ea typeface="DM Sans" pitchFamily="34" charset="-122"/>
                <a:cs typeface="DM Sans" pitchFamily="34" charset="-120"/>
              </a:rPr>
              <a:t>Akhilesh Reddy</a:t>
            </a:r>
            <a:endParaRPr lang="en-US" sz="1500" dirty="0"/>
          </a:p>
          <a:p>
            <a:pPr algn="l" indent="0" marL="0">
              <a:lnSpc>
                <a:spcPts val="2100"/>
              </a:lnSpc>
              <a:buNone/>
            </a:pPr>
            <a:r>
              <a:rPr lang="en-US" sz="1500" dirty="0">
                <a:solidFill>
                  <a:srgbClr val="9FB0C3"/>
                </a:solidFill>
                <a:latin typeface="DM Sans" pitchFamily="34" charset="0"/>
                <a:ea typeface="DM Sans" pitchFamily="34" charset="-122"/>
                <a:cs typeface="DM Sans" pitchFamily="34" charset="-120"/>
              </a:rPr>
              <a:t>24BIT0352</a:t>
            </a:r>
            <a:endParaRPr lang="en-US" sz="1500" dirty="0"/>
          </a:p>
        </p:txBody>
      </p:sp>
      <p:sp>
        <p:nvSpPr>
          <p:cNvPr id="8" name="Text 6"/>
          <p:cNvSpPr/>
          <p:nvPr/>
        </p:nvSpPr>
        <p:spPr>
          <a:xfrm>
            <a:off x="812800" y="5169853"/>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FB0C3"/>
                </a:solidFill>
                <a:latin typeface="DM Sans" pitchFamily="34" charset="0"/>
                <a:ea typeface="DM Sans" pitchFamily="34" charset="-122"/>
                <a:cs typeface="DM Sans" pitchFamily="34" charset="-120"/>
              </a:rPr>
              <a:t>VIT · B.Tech IT · Faculty: Dr. Priya V.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9810750" cy="975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4213D"/>
                </a:solidFill>
                <a:latin typeface="DM Sans" pitchFamily="34" charset="0"/>
                <a:ea typeface="DM Sans" pitchFamily="34" charset="-122"/>
                <a:cs typeface="DM Sans" pitchFamily="34" charset="-120"/>
              </a:rPr>
              <a:t>Small businesses learn what the cloud cost them only when the invoice arrives</a:t>
            </a:r>
            <a:endParaRPr lang="en-US" sz="3400" dirty="0"/>
          </a:p>
        </p:txBody>
      </p:sp>
      <p:sp>
        <p:nvSpPr>
          <p:cNvPr id="3" name="Shape 1"/>
          <p:cNvSpPr/>
          <p:nvPr/>
        </p:nvSpPr>
        <p:spPr>
          <a:xfrm>
            <a:off x="815975" y="2070735"/>
            <a:ext cx="3380264" cy="1985010"/>
          </a:xfrm>
          <a:prstGeom prst="roundRect">
            <a:avLst>
              <a:gd name="adj" fmla="val 6238"/>
            </a:avLst>
          </a:prstGeom>
          <a:solidFill>
            <a:srgbClr val="FFFFFF"/>
          </a:solidFill>
          <a:ln w="6350">
            <a:solidFill>
              <a:srgbClr val="DDDAD0"/>
            </a:solidFill>
            <a:prstDash val="solid"/>
          </a:ln>
        </p:spPr>
      </p:sp>
      <p:sp>
        <p:nvSpPr>
          <p:cNvPr id="4" name="Text 2"/>
          <p:cNvSpPr/>
          <p:nvPr/>
        </p:nvSpPr>
        <p:spPr>
          <a:xfrm>
            <a:off x="1071880" y="2326640"/>
            <a:ext cx="295450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6E70"/>
                </a:solidFill>
                <a:latin typeface="DM Sans" pitchFamily="34" charset="0"/>
                <a:ea typeface="DM Sans" pitchFamily="34" charset="-122"/>
                <a:cs typeface="DM Sans" pitchFamily="34" charset="-120"/>
              </a:rPr>
              <a:t>No FinOps team</a:t>
            </a:r>
            <a:endParaRPr lang="en-US" sz="2000" dirty="0"/>
          </a:p>
        </p:txBody>
      </p:sp>
      <p:sp>
        <p:nvSpPr>
          <p:cNvPr id="5" name="Text 3"/>
          <p:cNvSpPr/>
          <p:nvPr/>
        </p:nvSpPr>
        <p:spPr>
          <a:xfrm>
            <a:off x="1071880" y="2733040"/>
            <a:ext cx="2954507"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DM Sans" pitchFamily="34" charset="0"/>
                <a:ea typeface="DM Sans" pitchFamily="34" charset="-122"/>
                <a:cs typeface="DM Sans" pitchFamily="34" charset="-120"/>
              </a:rPr>
              <a:t>One or two engineers who also run deployments, so cost control is reactive.</a:t>
            </a:r>
            <a:endParaRPr lang="en-US" sz="1500" dirty="0"/>
          </a:p>
        </p:txBody>
      </p:sp>
      <p:sp>
        <p:nvSpPr>
          <p:cNvPr id="6" name="Shape 4"/>
          <p:cNvSpPr/>
          <p:nvPr/>
        </p:nvSpPr>
        <p:spPr>
          <a:xfrm>
            <a:off x="4405789" y="2070735"/>
            <a:ext cx="3380343" cy="1985010"/>
          </a:xfrm>
          <a:prstGeom prst="roundRect">
            <a:avLst>
              <a:gd name="adj" fmla="val 6238"/>
            </a:avLst>
          </a:prstGeom>
          <a:solidFill>
            <a:srgbClr val="FFFFFF"/>
          </a:solidFill>
          <a:ln w="6350">
            <a:solidFill>
              <a:srgbClr val="DDDAD0"/>
            </a:solidFill>
            <a:prstDash val="solid"/>
          </a:ln>
        </p:spPr>
      </p:sp>
      <p:sp>
        <p:nvSpPr>
          <p:cNvPr id="7" name="Text 5"/>
          <p:cNvSpPr/>
          <p:nvPr/>
        </p:nvSpPr>
        <p:spPr>
          <a:xfrm>
            <a:off x="4661694" y="2326640"/>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6E70"/>
                </a:solidFill>
                <a:latin typeface="DM Sans" pitchFamily="34" charset="0"/>
                <a:ea typeface="DM Sans" pitchFamily="34" charset="-122"/>
                <a:cs typeface="DM Sans" pitchFamily="34" charset="-120"/>
              </a:rPr>
              <a:t>Bills look backward</a:t>
            </a:r>
            <a:endParaRPr lang="en-US" sz="2000" dirty="0"/>
          </a:p>
        </p:txBody>
      </p:sp>
      <p:sp>
        <p:nvSpPr>
          <p:cNvPr id="8" name="Text 6"/>
          <p:cNvSpPr/>
          <p:nvPr/>
        </p:nvSpPr>
        <p:spPr>
          <a:xfrm>
            <a:off x="4661694" y="2733040"/>
            <a:ext cx="2954589"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DM Sans" pitchFamily="34" charset="0"/>
                <a:ea typeface="DM Sans" pitchFamily="34" charset="-122"/>
                <a:cs typeface="DM Sans" pitchFamily="34" charset="-120"/>
              </a:rPr>
              <a:t>Billing consoles report what was spent. They do not predict next month or explain what is wasted.</a:t>
            </a:r>
            <a:endParaRPr lang="en-US" sz="1500" dirty="0"/>
          </a:p>
        </p:txBody>
      </p:sp>
      <p:sp>
        <p:nvSpPr>
          <p:cNvPr id="9" name="Shape 7"/>
          <p:cNvSpPr/>
          <p:nvPr/>
        </p:nvSpPr>
        <p:spPr>
          <a:xfrm>
            <a:off x="7995682" y="2070735"/>
            <a:ext cx="3380343" cy="1985010"/>
          </a:xfrm>
          <a:prstGeom prst="roundRect">
            <a:avLst>
              <a:gd name="adj" fmla="val 6238"/>
            </a:avLst>
          </a:prstGeom>
          <a:solidFill>
            <a:srgbClr val="FFFFFF"/>
          </a:solidFill>
          <a:ln w="6350">
            <a:solidFill>
              <a:srgbClr val="DDDAD0"/>
            </a:solidFill>
            <a:prstDash val="solid"/>
          </a:ln>
        </p:spPr>
      </p:sp>
      <p:sp>
        <p:nvSpPr>
          <p:cNvPr id="10" name="Text 8"/>
          <p:cNvSpPr/>
          <p:nvPr/>
        </p:nvSpPr>
        <p:spPr>
          <a:xfrm>
            <a:off x="8251587" y="2326640"/>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6E70"/>
                </a:solidFill>
                <a:latin typeface="DM Sans" pitchFamily="34" charset="0"/>
                <a:ea typeface="DM Sans" pitchFamily="34" charset="-122"/>
                <a:cs typeface="DM Sans" pitchFamily="34" charset="-120"/>
              </a:rPr>
              <a:t>Waste hides</a:t>
            </a:r>
            <a:endParaRPr lang="en-US" sz="2000" dirty="0"/>
          </a:p>
        </p:txBody>
      </p:sp>
      <p:sp>
        <p:nvSpPr>
          <p:cNvPr id="11" name="Text 9"/>
          <p:cNvSpPr/>
          <p:nvPr/>
        </p:nvSpPr>
        <p:spPr>
          <a:xfrm>
            <a:off x="8251587" y="2733040"/>
            <a:ext cx="295458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DM Sans" pitchFamily="34" charset="0"/>
                <a:ea typeface="DM Sans" pitchFamily="34" charset="-122"/>
                <a:cs typeface="DM Sans" pitchFamily="34" charset="-120"/>
              </a:rPr>
              <a:t>Over-sized servers, unattached disks and storage on the wrong tier quietly add up.</a:t>
            </a:r>
            <a:endParaRPr lang="en-US" sz="1500" dirty="0"/>
          </a:p>
        </p:txBody>
      </p:sp>
      <p:sp>
        <p:nvSpPr>
          <p:cNvPr id="12" name="Text 10"/>
          <p:cNvSpPr/>
          <p:nvPr/>
        </p:nvSpPr>
        <p:spPr>
          <a:xfrm>
            <a:off x="812800" y="6238241"/>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6"/>
                </a:solidFill>
                <a:latin typeface="DM Sans" pitchFamily="34" charset="0"/>
                <a:ea typeface="DM Sans" pitchFamily="34" charset="-122"/>
                <a:cs typeface="DM Sans" pitchFamily="34" charset="-120"/>
              </a:rPr>
              <a:t>CloudWiseAI · BCSE355L</a:t>
            </a:r>
            <a:endParaRPr lang="en-US" sz="1200" dirty="0"/>
          </a:p>
        </p:txBody>
      </p:sp>
      <p:sp>
        <p:nvSpPr>
          <p:cNvPr id="13" name="Text 11"/>
          <p:cNvSpPr/>
          <p:nvPr/>
        </p:nvSpPr>
        <p:spPr>
          <a:xfrm>
            <a:off x="9469374" y="6238241"/>
            <a:ext cx="1909826"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6"/>
                </a:solidFill>
                <a:latin typeface="DM Sans" pitchFamily="34" charset="0"/>
                <a:ea typeface="DM Sans" pitchFamily="34" charset="-122"/>
                <a:cs typeface="DM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9810750" cy="975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4213D"/>
                </a:solidFill>
                <a:latin typeface="DM Sans" pitchFamily="34" charset="0"/>
                <a:ea typeface="DM Sans" pitchFamily="34" charset="-122"/>
                <a:cs typeface="DM Sans" pitchFamily="34" charset="-120"/>
              </a:rPr>
              <a:t>CloudWiseAI turns daily billing data into three decisions</a:t>
            </a:r>
            <a:endParaRPr lang="en-US" sz="3400" dirty="0"/>
          </a:p>
        </p:txBody>
      </p:sp>
      <p:sp>
        <p:nvSpPr>
          <p:cNvPr id="3" name="Shape 1"/>
          <p:cNvSpPr/>
          <p:nvPr/>
        </p:nvSpPr>
        <p:spPr>
          <a:xfrm>
            <a:off x="812800" y="2067561"/>
            <a:ext cx="3386614" cy="2499360"/>
          </a:xfrm>
          <a:prstGeom prst="roundRect">
            <a:avLst>
              <a:gd name="adj" fmla="val 5081"/>
            </a:avLst>
          </a:prstGeom>
          <a:solidFill>
            <a:srgbClr val="0E1A2B"/>
          </a:solidFill>
          <a:ln/>
        </p:spPr>
      </p:sp>
      <p:sp>
        <p:nvSpPr>
          <p:cNvPr id="4" name="Text 2"/>
          <p:cNvSpPr/>
          <p:nvPr/>
        </p:nvSpPr>
        <p:spPr>
          <a:xfrm>
            <a:off x="1092200" y="2346961"/>
            <a:ext cx="291264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CC8C0"/>
                </a:solidFill>
                <a:latin typeface="DM Sans" pitchFamily="34" charset="0"/>
                <a:ea typeface="DM Sans" pitchFamily="34" charset="-122"/>
                <a:cs typeface="DM Sans" pitchFamily="34" charset="-120"/>
              </a:rPr>
              <a:t>1 · FORECAST</a:t>
            </a:r>
            <a:endParaRPr lang="en-US" sz="1500" dirty="0"/>
          </a:p>
        </p:txBody>
      </p:sp>
      <p:sp>
        <p:nvSpPr>
          <p:cNvPr id="5" name="Text 3"/>
          <p:cNvSpPr/>
          <p:nvPr/>
        </p:nvSpPr>
        <p:spPr>
          <a:xfrm>
            <a:off x="1092200" y="2715261"/>
            <a:ext cx="2912648" cy="6959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5F4EE"/>
                </a:solidFill>
                <a:latin typeface="DM Sans" pitchFamily="34" charset="0"/>
                <a:ea typeface="DM Sans" pitchFamily="34" charset="-122"/>
                <a:cs typeface="DM Sans" pitchFamily="34" charset="-120"/>
              </a:rPr>
              <a:t>Next 3 months of spend</a:t>
            </a:r>
            <a:endParaRPr lang="en-US" sz="2200" dirty="0"/>
          </a:p>
        </p:txBody>
      </p:sp>
      <p:sp>
        <p:nvSpPr>
          <p:cNvPr id="6" name="Text 4"/>
          <p:cNvSpPr/>
          <p:nvPr/>
        </p:nvSpPr>
        <p:spPr>
          <a:xfrm>
            <a:off x="1092200" y="3487420"/>
            <a:ext cx="2912648"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9DEE6"/>
                </a:solidFill>
                <a:latin typeface="DM Sans" pitchFamily="34" charset="0"/>
                <a:ea typeface="DM Sans" pitchFamily="34" charset="-122"/>
                <a:cs typeface="DM Sans" pitchFamily="34" charset="-120"/>
              </a:rPr>
              <a:t>Ridge model chosen by rolling-origin backtest: 0.45% mean monthly error.</a:t>
            </a:r>
            <a:endParaRPr lang="en-US" sz="1500" dirty="0"/>
          </a:p>
        </p:txBody>
      </p:sp>
      <p:sp>
        <p:nvSpPr>
          <p:cNvPr id="7" name="Shape 5"/>
          <p:cNvSpPr/>
          <p:nvPr/>
        </p:nvSpPr>
        <p:spPr>
          <a:xfrm>
            <a:off x="4402614" y="2067561"/>
            <a:ext cx="3386693" cy="2499360"/>
          </a:xfrm>
          <a:prstGeom prst="roundRect">
            <a:avLst>
              <a:gd name="adj" fmla="val 5081"/>
            </a:avLst>
          </a:prstGeom>
          <a:solidFill>
            <a:srgbClr val="0E1A2B"/>
          </a:solidFill>
          <a:ln/>
        </p:spPr>
      </p:sp>
      <p:sp>
        <p:nvSpPr>
          <p:cNvPr id="8" name="Text 6"/>
          <p:cNvSpPr/>
          <p:nvPr/>
        </p:nvSpPr>
        <p:spPr>
          <a:xfrm>
            <a:off x="4682014" y="2346961"/>
            <a:ext cx="291273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CC8C0"/>
                </a:solidFill>
                <a:latin typeface="DM Sans" pitchFamily="34" charset="0"/>
                <a:ea typeface="DM Sans" pitchFamily="34" charset="-122"/>
                <a:cs typeface="DM Sans" pitchFamily="34" charset="-120"/>
              </a:rPr>
              <a:t>2 · DETECT</a:t>
            </a:r>
            <a:endParaRPr lang="en-US" sz="1500" dirty="0"/>
          </a:p>
        </p:txBody>
      </p:sp>
      <p:sp>
        <p:nvSpPr>
          <p:cNvPr id="9" name="Text 7"/>
          <p:cNvSpPr/>
          <p:nvPr/>
        </p:nvSpPr>
        <p:spPr>
          <a:xfrm>
            <a:off x="4682014" y="2715261"/>
            <a:ext cx="2912730"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5F4EE"/>
                </a:solidFill>
                <a:latin typeface="DM Sans" pitchFamily="34" charset="0"/>
                <a:ea typeface="DM Sans" pitchFamily="34" charset="-122"/>
                <a:cs typeface="DM Sans" pitchFamily="34" charset="-120"/>
              </a:rPr>
              <a:t>Abnormal spending</a:t>
            </a:r>
            <a:endParaRPr lang="en-US" sz="2200" dirty="0"/>
          </a:p>
        </p:txBody>
      </p:sp>
      <p:sp>
        <p:nvSpPr>
          <p:cNvPr id="10" name="Text 8"/>
          <p:cNvSpPr/>
          <p:nvPr/>
        </p:nvSpPr>
        <p:spPr>
          <a:xfrm>
            <a:off x="4682014" y="3152141"/>
            <a:ext cx="291273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9DEE6"/>
                </a:solidFill>
                <a:latin typeface="DM Sans" pitchFamily="34" charset="0"/>
                <a:ea typeface="DM Sans" pitchFamily="34" charset="-122"/>
                <a:cs typeface="DM Sans" pitchFamily="34" charset="-120"/>
              </a:rPr>
              <a:t>Weekday-aware baseline finds all 8 injected events with no false alarms.</a:t>
            </a:r>
            <a:endParaRPr lang="en-US" sz="1500" dirty="0"/>
          </a:p>
        </p:txBody>
      </p:sp>
      <p:sp>
        <p:nvSpPr>
          <p:cNvPr id="11" name="Shape 9"/>
          <p:cNvSpPr/>
          <p:nvPr/>
        </p:nvSpPr>
        <p:spPr>
          <a:xfrm>
            <a:off x="7992507" y="2067561"/>
            <a:ext cx="3386693" cy="2499360"/>
          </a:xfrm>
          <a:prstGeom prst="roundRect">
            <a:avLst>
              <a:gd name="adj" fmla="val 5081"/>
            </a:avLst>
          </a:prstGeom>
          <a:solidFill>
            <a:srgbClr val="0E1A2B"/>
          </a:solidFill>
          <a:ln/>
        </p:spPr>
      </p:sp>
      <p:sp>
        <p:nvSpPr>
          <p:cNvPr id="12" name="Text 10"/>
          <p:cNvSpPr/>
          <p:nvPr/>
        </p:nvSpPr>
        <p:spPr>
          <a:xfrm>
            <a:off x="8271907" y="2346961"/>
            <a:ext cx="291273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CC8C0"/>
                </a:solidFill>
                <a:latin typeface="DM Sans" pitchFamily="34" charset="0"/>
                <a:ea typeface="DM Sans" pitchFamily="34" charset="-122"/>
                <a:cs typeface="DM Sans" pitchFamily="34" charset="-120"/>
              </a:rPr>
              <a:t>3 · RECOMMEND</a:t>
            </a:r>
            <a:endParaRPr lang="en-US" sz="1500" dirty="0"/>
          </a:p>
        </p:txBody>
      </p:sp>
      <p:sp>
        <p:nvSpPr>
          <p:cNvPr id="13" name="Text 11"/>
          <p:cNvSpPr/>
          <p:nvPr/>
        </p:nvSpPr>
        <p:spPr>
          <a:xfrm>
            <a:off x="8271907" y="2715261"/>
            <a:ext cx="2912730"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5F4EE"/>
                </a:solidFill>
                <a:latin typeface="DM Sans" pitchFamily="34" charset="0"/>
                <a:ea typeface="DM Sans" pitchFamily="34" charset="-122"/>
                <a:cs typeface="DM Sans" pitchFamily="34" charset="-120"/>
              </a:rPr>
              <a:t>Ranked savings</a:t>
            </a:r>
            <a:endParaRPr lang="en-US" sz="2200" dirty="0"/>
          </a:p>
        </p:txBody>
      </p:sp>
      <p:sp>
        <p:nvSpPr>
          <p:cNvPr id="14" name="Text 12"/>
          <p:cNvSpPr/>
          <p:nvPr/>
        </p:nvSpPr>
        <p:spPr>
          <a:xfrm>
            <a:off x="8271907" y="3152141"/>
            <a:ext cx="291273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9DEE6"/>
                </a:solidFill>
                <a:latin typeface="DM Sans" pitchFamily="34" charset="0"/>
                <a:ea typeface="DM Sans" pitchFamily="34" charset="-122"/>
                <a:cs typeface="DM Sans" pitchFamily="34" charset="-120"/>
              </a:rPr>
              <a:t>Six rules with written assumptions: about $7,507 per month on the test data.</a:t>
            </a:r>
            <a:endParaRPr lang="en-US" sz="1500" dirty="0"/>
          </a:p>
        </p:txBody>
      </p:sp>
      <p:sp>
        <p:nvSpPr>
          <p:cNvPr id="15" name="Text 13"/>
          <p:cNvSpPr/>
          <p:nvPr/>
        </p:nvSpPr>
        <p:spPr>
          <a:xfrm>
            <a:off x="812800" y="4871720"/>
            <a:ext cx="981075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DM Sans" pitchFamily="34" charset="0"/>
                <a:ea typeface="DM Sans" pitchFamily="34" charset="-122"/>
                <a:cs typeface="DM Sans" pitchFamily="34" charset="-120"/>
              </a:rPr>
              <a:t>Delivered as a React dashboard on a FastAPI and PostgreSQL backend, plus an optional assistant that answers only from the user’s own data.</a:t>
            </a:r>
            <a:endParaRPr lang="en-US" sz="1600" dirty="0"/>
          </a:p>
        </p:txBody>
      </p:sp>
      <p:sp>
        <p:nvSpPr>
          <p:cNvPr id="16" name="Text 14"/>
          <p:cNvSpPr/>
          <p:nvPr/>
        </p:nvSpPr>
        <p:spPr>
          <a:xfrm>
            <a:off x="812800" y="6238241"/>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6"/>
                </a:solidFill>
                <a:latin typeface="DM Sans" pitchFamily="34" charset="0"/>
                <a:ea typeface="DM Sans" pitchFamily="34" charset="-122"/>
                <a:cs typeface="DM Sans" pitchFamily="34" charset="-120"/>
              </a:rPr>
              <a:t>CloudWiseAI · BCSE355L</a:t>
            </a:r>
            <a:endParaRPr lang="en-US" sz="1200" dirty="0"/>
          </a:p>
        </p:txBody>
      </p:sp>
      <p:sp>
        <p:nvSpPr>
          <p:cNvPr id="17" name="Text 15"/>
          <p:cNvSpPr/>
          <p:nvPr/>
        </p:nvSpPr>
        <p:spPr>
          <a:xfrm>
            <a:off x="9469374" y="6238241"/>
            <a:ext cx="1909826"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6"/>
                </a:solidFill>
                <a:latin typeface="DM Sans" pitchFamily="34" charset="0"/>
                <a:ea typeface="DM Sans" pitchFamily="34" charset="-122"/>
                <a:cs typeface="DM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203180" cy="136652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None of the 15 papers we reviewed combines forecasting, spend anomalies and explained savings</a:t>
            </a:r>
            <a:endParaRPr lang="en-US" sz="3200" dirty="0"/>
          </a:p>
        </p:txBody>
      </p:sp>
      <p:sp>
        <p:nvSpPr>
          <p:cNvPr id="3" name="Shape 1"/>
          <p:cNvSpPr/>
          <p:nvPr/>
        </p:nvSpPr>
        <p:spPr>
          <a:xfrm>
            <a:off x="815975" y="2436495"/>
            <a:ext cx="5175250" cy="2525395"/>
          </a:xfrm>
          <a:prstGeom prst="roundRect">
            <a:avLst>
              <a:gd name="adj" fmla="val 4903"/>
            </a:avLst>
          </a:prstGeom>
          <a:solidFill>
            <a:srgbClr val="FFFFFF"/>
          </a:solidFill>
          <a:ln w="6350">
            <a:solidFill>
              <a:srgbClr val="DDDAD0"/>
            </a:solidFill>
            <a:prstDash val="solid"/>
          </a:ln>
        </p:spPr>
      </p:sp>
      <p:sp>
        <p:nvSpPr>
          <p:cNvPr id="4" name="Text 2"/>
          <p:cNvSpPr/>
          <p:nvPr/>
        </p:nvSpPr>
        <p:spPr>
          <a:xfrm>
            <a:off x="1071880" y="2692400"/>
            <a:ext cx="4803343" cy="31496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8A5A00"/>
                </a:solidFill>
                <a:latin typeface="DM Sans" pitchFamily="34" charset="0"/>
                <a:ea typeface="DM Sans" pitchFamily="34" charset="-122"/>
                <a:cs typeface="DM Sans" pitchFamily="34" charset="-120"/>
              </a:rPr>
              <a:t>What the literature does</a:t>
            </a:r>
            <a:endParaRPr lang="en-US" sz="1900" dirty="0"/>
          </a:p>
        </p:txBody>
      </p:sp>
      <p:sp>
        <p:nvSpPr>
          <p:cNvPr id="5" name="Text 3"/>
          <p:cNvSpPr/>
          <p:nvPr/>
        </p:nvSpPr>
        <p:spPr>
          <a:xfrm>
            <a:off x="1071880" y="3096261"/>
            <a:ext cx="4803343"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D4A5C"/>
                </a:solidFill>
                <a:latin typeface="DM Sans" pitchFamily="34" charset="0"/>
                <a:ea typeface="DM Sans" pitchFamily="34" charset="-122"/>
                <a:cs typeface="DM Sans" pitchFamily="34" charset="-120"/>
              </a:rPr>
              <a:t>Forecasting, workload prediction, anomaly detection and optimisation are each studied in depth, but separately.</a:t>
            </a:r>
            <a:endParaRPr lang="en-US" sz="1500" dirty="0"/>
          </a:p>
        </p:txBody>
      </p:sp>
      <p:sp>
        <p:nvSpPr>
          <p:cNvPr id="6" name="Text 4"/>
          <p:cNvSpPr/>
          <p:nvPr/>
        </p:nvSpPr>
        <p:spPr>
          <a:xfrm>
            <a:off x="1071880" y="4039236"/>
            <a:ext cx="4803343"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D4A5C"/>
                </a:solidFill>
                <a:latin typeface="DM Sans" pitchFamily="34" charset="0"/>
                <a:ea typeface="DM Sans" pitchFamily="34" charset="-122"/>
                <a:cs typeface="DM Sans" pitchFamily="34" charset="-120"/>
              </a:rPr>
              <a:t>Mostly on simulators, public traces or price lists, not a customer’s own billing records.</a:t>
            </a:r>
            <a:endParaRPr lang="en-US" sz="1500" dirty="0"/>
          </a:p>
        </p:txBody>
      </p:sp>
      <p:sp>
        <p:nvSpPr>
          <p:cNvPr id="7" name="Shape 5"/>
          <p:cNvSpPr/>
          <p:nvPr/>
        </p:nvSpPr>
        <p:spPr>
          <a:xfrm>
            <a:off x="6200775" y="2436495"/>
            <a:ext cx="5175250" cy="2525395"/>
          </a:xfrm>
          <a:prstGeom prst="roundRect">
            <a:avLst>
              <a:gd name="adj" fmla="val 4903"/>
            </a:avLst>
          </a:prstGeom>
          <a:solidFill>
            <a:srgbClr val="FFFFFF"/>
          </a:solidFill>
          <a:ln w="6350">
            <a:solidFill>
              <a:srgbClr val="DDDAD0"/>
            </a:solidFill>
            <a:prstDash val="solid"/>
          </a:ln>
        </p:spPr>
      </p:sp>
      <p:sp>
        <p:nvSpPr>
          <p:cNvPr id="8" name="Text 6"/>
          <p:cNvSpPr/>
          <p:nvPr/>
        </p:nvSpPr>
        <p:spPr>
          <a:xfrm>
            <a:off x="6456680" y="2692400"/>
            <a:ext cx="4803343" cy="31496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0B6E70"/>
                </a:solidFill>
                <a:latin typeface="DM Sans" pitchFamily="34" charset="0"/>
                <a:ea typeface="DM Sans" pitchFamily="34" charset="-122"/>
                <a:cs typeface="DM Sans" pitchFamily="34" charset="-120"/>
              </a:rPr>
              <a:t>What CloudWiseAI adds</a:t>
            </a:r>
            <a:endParaRPr lang="en-US" sz="1900" dirty="0"/>
          </a:p>
        </p:txBody>
      </p:sp>
      <p:sp>
        <p:nvSpPr>
          <p:cNvPr id="9" name="Text 7"/>
          <p:cNvSpPr/>
          <p:nvPr/>
        </p:nvSpPr>
        <p:spPr>
          <a:xfrm>
            <a:off x="6456680" y="3096261"/>
            <a:ext cx="4803343"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D4A5C"/>
                </a:solidFill>
                <a:latin typeface="DM Sans" pitchFamily="34" charset="0"/>
                <a:ea typeface="DM Sans" pitchFamily="34" charset="-122"/>
                <a:cs typeface="DM Sans" pitchFamily="34" charset="-120"/>
              </a:rPr>
              <a:t>One system on resource-level daily billing data.</a:t>
            </a:r>
            <a:endParaRPr lang="en-US" sz="1500" dirty="0"/>
          </a:p>
        </p:txBody>
      </p:sp>
      <p:sp>
        <p:nvSpPr>
          <p:cNvPr id="10" name="Text 8"/>
          <p:cNvSpPr/>
          <p:nvPr/>
        </p:nvSpPr>
        <p:spPr>
          <a:xfrm>
            <a:off x="6456680" y="3486786"/>
            <a:ext cx="4803343"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D4A5C"/>
                </a:solidFill>
                <a:latin typeface="DM Sans" pitchFamily="34" charset="0"/>
                <a:ea typeface="DM Sans" pitchFamily="34" charset="-122"/>
                <a:cs typeface="DM Sans" pitchFamily="34" charset="-120"/>
              </a:rPr>
              <a:t>Tested against two baselines: a seasonal-naive forecaster and a rolling 3-sigma detector.</a:t>
            </a:r>
            <a:endParaRPr lang="en-US" sz="1500" dirty="0"/>
          </a:p>
        </p:txBody>
      </p:sp>
      <p:sp>
        <p:nvSpPr>
          <p:cNvPr id="11" name="Text 9"/>
          <p:cNvSpPr/>
          <p:nvPr/>
        </p:nvSpPr>
        <p:spPr>
          <a:xfrm>
            <a:off x="6456680" y="4153536"/>
            <a:ext cx="4803343"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D4A5C"/>
                </a:solidFill>
                <a:latin typeface="DM Sans" pitchFamily="34" charset="0"/>
                <a:ea typeface="DM Sans" pitchFamily="34" charset="-122"/>
                <a:cs typeface="DM Sans" pitchFamily="34" charset="-120"/>
              </a:rPr>
              <a:t>Recommendations whose savings assumptions are written down.</a:t>
            </a:r>
            <a:endParaRPr lang="en-US" sz="1500" dirty="0"/>
          </a:p>
        </p:txBody>
      </p:sp>
      <p:sp>
        <p:nvSpPr>
          <p:cNvPr id="12" name="Text 10"/>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6"/>
                </a:solidFill>
                <a:latin typeface="DM Sans" pitchFamily="34" charset="0"/>
                <a:ea typeface="DM Sans" pitchFamily="34" charset="-122"/>
                <a:cs typeface="DM Sans" pitchFamily="34" charset="-120"/>
              </a:rPr>
              <a:t>CloudWiseAI · BCSE355L · Sources: project report, Sections 2 and 4</a:t>
            </a:r>
            <a:endParaRPr lang="en-US" sz="1200" dirty="0"/>
          </a:p>
        </p:txBody>
      </p:sp>
      <p:sp>
        <p:nvSpPr>
          <p:cNvPr id="13" name="Text 11"/>
          <p:cNvSpPr/>
          <p:nvPr/>
        </p:nvSpPr>
        <p:spPr>
          <a:xfrm>
            <a:off x="9469374" y="6238239"/>
            <a:ext cx="1909826"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6"/>
                </a:solidFill>
                <a:latin typeface="DM Sans" pitchFamily="34" charset="0"/>
                <a:ea typeface="DM Sans" pitchFamily="34" charset="-122"/>
                <a:cs typeface="DM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4EE"/>
        </a:solidFill>
      </p:bgPr>
    </p:bg>
    <p:spTree>
      <p:nvGrpSpPr>
        <p:cNvPr id="1" name=""/>
        <p:cNvGrpSpPr/>
        <p:nvPr/>
      </p:nvGrpSpPr>
      <p:grpSpPr>
        <a:xfrm>
          <a:off x="0" y="0"/>
          <a:ext cx="0" cy="0"/>
          <a:chOff x="0" y="0"/>
          <a:chExt cx="0" cy="0"/>
        </a:xfrm>
      </p:grpSpPr>
      <p:sp>
        <p:nvSpPr>
          <p:cNvPr id="2" name="Text 0"/>
          <p:cNvSpPr/>
          <p:nvPr>
            <p:ph type="title"/>
          </p:nvPr>
        </p:nvSpPr>
        <p:spPr>
          <a:xfrm>
            <a:off x="812800" y="1997711"/>
            <a:ext cx="4292600"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DM Sans" pitchFamily="34" charset="0"/>
                <a:ea typeface="DM Sans" pitchFamily="34" charset="-122"/>
                <a:cs typeface="DM Sans" pitchFamily="34" charset="-120"/>
              </a:rPr>
              <a:t>System architecture</a:t>
            </a:r>
            <a:endParaRPr lang="en-US" sz="3000" dirty="0"/>
          </a:p>
        </p:txBody>
      </p:sp>
      <p:sp>
        <p:nvSpPr>
          <p:cNvPr id="3" name="Text 1"/>
          <p:cNvSpPr/>
          <p:nvPr/>
        </p:nvSpPr>
        <p:spPr>
          <a:xfrm>
            <a:off x="812800" y="2594611"/>
            <a:ext cx="405511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DM Sans" pitchFamily="34" charset="0"/>
                <a:ea typeface="DM Sans" pitchFamily="34" charset="-122"/>
                <a:cs typeface="DM Sans" pitchFamily="34" charset="-120"/>
              </a:rPr>
              <a:t>Billing CSV is loaded into PostgreSQL.</a:t>
            </a:r>
            <a:endParaRPr lang="en-US" sz="1600" dirty="0"/>
          </a:p>
        </p:txBody>
      </p:sp>
      <p:sp>
        <p:nvSpPr>
          <p:cNvPr id="4" name="Text 2"/>
          <p:cNvSpPr/>
          <p:nvPr/>
        </p:nvSpPr>
        <p:spPr>
          <a:xfrm>
            <a:off x="812800" y="3056889"/>
            <a:ext cx="4055110"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DM Sans" pitchFamily="34" charset="0"/>
                <a:ea typeface="DM Sans" pitchFamily="34" charset="-122"/>
                <a:cs typeface="DM Sans" pitchFamily="34" charset="-120"/>
              </a:rPr>
              <a:t>One analysis script writes anomalies, recommendations and a 3-month forecast to result tables.</a:t>
            </a:r>
            <a:endParaRPr lang="en-US" sz="1600" dirty="0"/>
          </a:p>
        </p:txBody>
      </p:sp>
      <p:sp>
        <p:nvSpPr>
          <p:cNvPr id="5" name="Text 3"/>
          <p:cNvSpPr/>
          <p:nvPr/>
        </p:nvSpPr>
        <p:spPr>
          <a:xfrm>
            <a:off x="812800" y="4088132"/>
            <a:ext cx="405511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DM Sans" pitchFamily="34" charset="0"/>
                <a:ea typeface="DM Sans" pitchFamily="34" charset="-122"/>
                <a:cs typeface="DM Sans" pitchFamily="34" charset="-120"/>
              </a:rPr>
              <a:t>FastAPI serves them to the React dashboard with JWT sign-in.</a:t>
            </a:r>
            <a:endParaRPr lang="en-US" sz="1600" dirty="0"/>
          </a:p>
        </p:txBody>
      </p:sp>
      <p:sp>
        <p:nvSpPr>
          <p:cNvPr id="6" name="Shape 4"/>
          <p:cNvSpPr/>
          <p:nvPr/>
        </p:nvSpPr>
        <p:spPr>
          <a:xfrm>
            <a:off x="5105400" y="1104900"/>
            <a:ext cx="6210300" cy="4445000"/>
          </a:xfrm>
          <a:prstGeom prst="roundRect">
            <a:avLst>
              <a:gd name="adj" fmla="val 2286"/>
            </a:avLst>
          </a:prstGeom>
          <a:solidFill>
            <a:srgbClr val="FFFFFF"/>
          </a:solidFill>
          <a:ln/>
        </p:spPr>
      </p:sp>
      <p:pic>
        <p:nvPicPr>
          <p:cNvPr id="7" name="Image 0" descr="System architecture diagram: billing data, PostgreSQL, analysis modules, FastAPI and the React dashboard">    </p:cNvPr>
          <p:cNvPicPr>
            <a:picLocks noChangeAspect="1"/>
          </p:cNvPicPr>
          <p:nvPr/>
        </p:nvPicPr>
        <p:blipFill>
          <a:blip r:embed="rId1"/>
          <a:srcRect l="-21" r="-21" t="0" b="0"/>
          <a:stretch/>
        </p:blipFill>
        <p:spPr>
          <a:xfrm>
            <a:off x="5111750" y="1111250"/>
            <a:ext cx="6197600" cy="4432300"/>
          </a:xfrm>
          <a:prstGeom prst="roundRect">
            <a:avLst>
              <a:gd name="adj" fmla="val 2149"/>
            </a:avLst>
          </a:prstGeom>
        </p:spPr>
      </p:pic>
      <p:sp>
        <p:nvSpPr>
          <p:cNvPr id="8" name="Shape 5"/>
          <p:cNvSpPr/>
          <p:nvPr/>
        </p:nvSpPr>
        <p:spPr>
          <a:xfrm>
            <a:off x="5108575" y="1108075"/>
            <a:ext cx="6203950" cy="4438650"/>
          </a:xfrm>
          <a:prstGeom prst="roundRect">
            <a:avLst>
              <a:gd name="adj" fmla="val 2217"/>
            </a:avLst>
          </a:prstGeom>
          <a:noFill/>
          <a:ln w="6350">
            <a:solidFill>
              <a:srgbClr val="DDDAD0"/>
            </a:solidFill>
            <a:prstDash val="solid"/>
          </a:ln>
        </p:spPr>
      </p:sp>
      <p:sp>
        <p:nvSpPr>
          <p:cNvPr id="9" name="Text 6"/>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6"/>
                </a:solidFill>
                <a:latin typeface="DM Sans" pitchFamily="34" charset="0"/>
                <a:ea typeface="DM Sans" pitchFamily="34" charset="-122"/>
                <a:cs typeface="DM Sans" pitchFamily="34" charset="-120"/>
              </a:rPr>
              <a:t>CloudWiseAI · BCSE355L · Source: report, Figure 2</a:t>
            </a:r>
            <a:endParaRPr lang="en-US" sz="1200" dirty="0"/>
          </a:p>
        </p:txBody>
      </p:sp>
      <p:sp>
        <p:nvSpPr>
          <p:cNvPr id="10" name="Text 7"/>
          <p:cNvSpPr/>
          <p:nvPr/>
        </p:nvSpPr>
        <p:spPr>
          <a:xfrm>
            <a:off x="9469374" y="6238239"/>
            <a:ext cx="1909826"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6"/>
                </a:solidFill>
                <a:latin typeface="DM Sans" pitchFamily="34" charset="0"/>
                <a:ea typeface="DM Sans" pitchFamily="34" charset="-122"/>
                <a:cs typeface="DM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4EE"/>
        </a:solidFill>
      </p:bgPr>
    </p:bg>
    <p:spTree>
      <p:nvGrpSpPr>
        <p:cNvPr id="1" name=""/>
        <p:cNvGrpSpPr/>
        <p:nvPr/>
      </p:nvGrpSpPr>
      <p:grpSpPr>
        <a:xfrm>
          <a:off x="0" y="0"/>
          <a:ext cx="0" cy="0"/>
          <a:chOff x="0" y="0"/>
          <a:chExt cx="0" cy="0"/>
        </a:xfrm>
      </p:grpSpPr>
      <p:sp>
        <p:nvSpPr>
          <p:cNvPr id="2" name="Text 0"/>
          <p:cNvSpPr/>
          <p:nvPr>
            <p:ph type="title"/>
          </p:nvPr>
        </p:nvSpPr>
        <p:spPr>
          <a:xfrm>
            <a:off x="812800" y="1275082"/>
            <a:ext cx="4185920" cy="835660"/>
          </a:xfrm>
          <a:prstGeom prst="rect">
            <a:avLst/>
          </a:prstGeom>
          <a:noFill/>
          <a:ln/>
        </p:spPr>
        <p:txBody>
          <a:bodyPr wrap="square" lIns="0" tIns="0" rIns="0" bIns="0" rtlCol="0" anchor="t">
            <a:normAutofit/>
          </a:bodyPr>
          <a:lstStyle/>
          <a:p>
            <a:pPr algn="l" indent="0" marL="0">
              <a:lnSpc>
                <a:spcPts val="3190"/>
              </a:lnSpc>
              <a:buNone/>
            </a:pPr>
            <a:r>
              <a:rPr lang="en-US" sz="2900" b="1" i="0" dirty="0">
                <a:solidFill>
                  <a:srgbClr val="14213D"/>
                </a:solidFill>
                <a:latin typeface="DM Sans" pitchFamily="34" charset="0"/>
                <a:ea typeface="DM Sans" pitchFamily="34" charset="-122"/>
                <a:cs typeface="DM Sans" pitchFamily="34" charset="-120"/>
              </a:rPr>
              <a:t>AWS architecture (designed)</a:t>
            </a:r>
            <a:endParaRPr lang="en-US" sz="2900" dirty="0"/>
          </a:p>
        </p:txBody>
      </p:sp>
      <p:sp>
        <p:nvSpPr>
          <p:cNvPr id="3" name="Text 1"/>
          <p:cNvSpPr/>
          <p:nvPr/>
        </p:nvSpPr>
        <p:spPr>
          <a:xfrm>
            <a:off x="812800" y="2237739"/>
            <a:ext cx="4185920"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D4A5C"/>
                </a:solidFill>
                <a:latin typeface="DM Sans" pitchFamily="34" charset="0"/>
                <a:ea typeface="DM Sans" pitchFamily="34" charset="-122"/>
                <a:cs typeface="DM Sans" pitchFamily="34" charset="-120"/>
              </a:rPr>
              <a:t>CloudFront + S3:</a:t>
            </a:r>
            <a:r>
              <a:rPr lang="en-US" sz="1500" dirty="0">
                <a:solidFill>
                  <a:srgbClr val="3D4A5C"/>
                </a:solidFill>
                <a:latin typeface="DM Sans" pitchFamily="34" charset="0"/>
                <a:ea typeface="DM Sans" pitchFamily="34" charset="-122"/>
                <a:cs typeface="DM Sans" pitchFamily="34" charset="-120"/>
              </a:rPr>
              <a:t> private bucket, HTTPS frontend</a:t>
            </a:r>
            <a:endParaRPr lang="en-US" sz="1500" dirty="0"/>
          </a:p>
        </p:txBody>
      </p:sp>
      <p:sp>
        <p:nvSpPr>
          <p:cNvPr id="4" name="Text 2"/>
          <p:cNvSpPr/>
          <p:nvPr/>
        </p:nvSpPr>
        <p:spPr>
          <a:xfrm>
            <a:off x="812800" y="2923539"/>
            <a:ext cx="418592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D4A5C"/>
                </a:solidFill>
                <a:latin typeface="DM Sans" pitchFamily="34" charset="0"/>
                <a:ea typeface="DM Sans" pitchFamily="34" charset="-122"/>
                <a:cs typeface="DM Sans" pitchFamily="34" charset="-120"/>
              </a:rPr>
              <a:t>API Gateway + EC2:</a:t>
            </a:r>
            <a:r>
              <a:rPr lang="en-US" sz="1500" dirty="0">
                <a:solidFill>
                  <a:srgbClr val="3D4A5C"/>
                </a:solidFill>
                <a:latin typeface="DM Sans" pitchFamily="34" charset="0"/>
                <a:ea typeface="DM Sans" pitchFamily="34" charset="-122"/>
                <a:cs typeface="DM Sans" pitchFamily="34" charset="-120"/>
              </a:rPr>
              <a:t> HTTPS entry to FastAPI</a:t>
            </a:r>
            <a:endParaRPr lang="en-US" sz="1500" dirty="0"/>
          </a:p>
        </p:txBody>
      </p:sp>
      <p:sp>
        <p:nvSpPr>
          <p:cNvPr id="5" name="Text 3"/>
          <p:cNvSpPr/>
          <p:nvPr/>
        </p:nvSpPr>
        <p:spPr>
          <a:xfrm>
            <a:off x="812800" y="3342639"/>
            <a:ext cx="4185920"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D4A5C"/>
                </a:solidFill>
                <a:latin typeface="DM Sans" pitchFamily="34" charset="0"/>
                <a:ea typeface="DM Sans" pitchFamily="34" charset="-122"/>
                <a:cs typeface="DM Sans" pitchFamily="34" charset="-120"/>
              </a:rPr>
              <a:t>RDS PostgreSQL:</a:t>
            </a:r>
            <a:r>
              <a:rPr lang="en-US" sz="1500" dirty="0">
                <a:solidFill>
                  <a:srgbClr val="3D4A5C"/>
                </a:solidFill>
                <a:latin typeface="DM Sans" pitchFamily="34" charset="0"/>
                <a:ea typeface="DM Sans" pitchFamily="34" charset="-122"/>
                <a:cs typeface="DM Sans" pitchFamily="34" charset="-120"/>
              </a:rPr>
              <a:t> private, reachable only from EC2</a:t>
            </a:r>
            <a:endParaRPr lang="en-US" sz="1500" dirty="0"/>
          </a:p>
        </p:txBody>
      </p:sp>
      <p:sp>
        <p:nvSpPr>
          <p:cNvPr id="6" name="Text 4"/>
          <p:cNvSpPr/>
          <p:nvPr/>
        </p:nvSpPr>
        <p:spPr>
          <a:xfrm>
            <a:off x="812800" y="4028439"/>
            <a:ext cx="4185920"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D4A5C"/>
                </a:solidFill>
                <a:latin typeface="DM Sans" pitchFamily="34" charset="0"/>
                <a:ea typeface="DM Sans" pitchFamily="34" charset="-122"/>
                <a:cs typeface="DM Sans" pitchFamily="34" charset="-120"/>
              </a:rPr>
              <a:t>IAM, CloudWatch, SNS:</a:t>
            </a:r>
            <a:r>
              <a:rPr lang="en-US" sz="1500" dirty="0">
                <a:solidFill>
                  <a:srgbClr val="3D4A5C"/>
                </a:solidFill>
                <a:latin typeface="DM Sans" pitchFamily="34" charset="0"/>
                <a:ea typeface="DM Sans" pitchFamily="34" charset="-122"/>
                <a:cs typeface="DM Sans" pitchFamily="34" charset="-120"/>
              </a:rPr>
              <a:t> access, alarms, e-mail alerts</a:t>
            </a:r>
            <a:endParaRPr lang="en-US" sz="1500" dirty="0"/>
          </a:p>
        </p:txBody>
      </p:sp>
      <p:sp>
        <p:nvSpPr>
          <p:cNvPr id="7" name="Text 5"/>
          <p:cNvSpPr/>
          <p:nvPr/>
        </p:nvSpPr>
        <p:spPr>
          <a:xfrm>
            <a:off x="812800" y="4714239"/>
            <a:ext cx="4064000" cy="665480"/>
          </a:xfrm>
          <a:prstGeom prst="roundRect">
            <a:avLst>
              <a:gd name="adj" fmla="val 11450"/>
            </a:avLst>
          </a:prstGeom>
          <a:solidFill>
            <a:srgbClr val="F7DFA6"/>
          </a:solidFill>
          <a:ln/>
        </p:spPr>
        <p:txBody>
          <a:bodyPr wrap="square" lIns="130082" tIns="79282" rIns="17306" bIns="53882" rtlCol="0" anchor="t">
            <a:normAutofit/>
          </a:bodyPr>
          <a:lstStyle/>
          <a:p>
            <a:pPr algn="l" indent="0" marL="0">
              <a:lnSpc>
                <a:spcPts val="1820"/>
              </a:lnSpc>
              <a:buNone/>
            </a:pPr>
            <a:r>
              <a:rPr lang="en-US" sz="1400" b="1" dirty="0">
                <a:solidFill>
                  <a:srgbClr val="14213D"/>
                </a:solidFill>
                <a:latin typeface="DM Sans" pitchFamily="34" charset="0"/>
                <a:ea typeface="DM Sans" pitchFamily="34" charset="-122"/>
                <a:cs typeface="DM Sans" pitchFamily="34" charset="-120"/>
              </a:rPr>
              <a:t>Status: designed and scripted. Live deployment pending.</a:t>
            </a:r>
            <a:endParaRPr lang="en-US" sz="1400" dirty="0"/>
          </a:p>
        </p:txBody>
      </p:sp>
      <p:sp>
        <p:nvSpPr>
          <p:cNvPr id="8" name="Shape 6"/>
          <p:cNvSpPr/>
          <p:nvPr/>
        </p:nvSpPr>
        <p:spPr>
          <a:xfrm>
            <a:off x="5232400" y="1104900"/>
            <a:ext cx="6146800" cy="4445000"/>
          </a:xfrm>
          <a:prstGeom prst="roundRect">
            <a:avLst>
              <a:gd name="adj" fmla="val 2286"/>
            </a:avLst>
          </a:prstGeom>
          <a:solidFill>
            <a:srgbClr val="FFFFFF"/>
          </a:solidFill>
          <a:ln/>
        </p:spPr>
      </p:sp>
      <p:pic>
        <p:nvPicPr>
          <p:cNvPr id="9" name="Image 0" descr="AWS architecture diagram: CloudFront and S3, API Gateway, EC2, RDS, IAM, CloudWatch and SNS in region ap-south-1">    </p:cNvPr>
          <p:cNvPicPr>
            <a:picLocks noChangeAspect="1"/>
          </p:cNvPicPr>
          <p:nvPr/>
        </p:nvPicPr>
        <p:blipFill>
          <a:blip r:embed="rId1"/>
          <a:stretch>
            <a:fillRect/>
          </a:stretch>
        </p:blipFill>
        <p:spPr>
          <a:xfrm>
            <a:off x="5238750" y="1281936"/>
            <a:ext cx="6134100" cy="4090927"/>
          </a:xfrm>
          <a:prstGeom prst="rect">
            <a:avLst/>
          </a:prstGeom>
        </p:spPr>
      </p:pic>
      <p:sp>
        <p:nvSpPr>
          <p:cNvPr id="10" name="Shape 7"/>
          <p:cNvSpPr/>
          <p:nvPr/>
        </p:nvSpPr>
        <p:spPr>
          <a:xfrm>
            <a:off x="5235575" y="1108075"/>
            <a:ext cx="6140450" cy="4438650"/>
          </a:xfrm>
          <a:prstGeom prst="roundRect">
            <a:avLst>
              <a:gd name="adj" fmla="val 2217"/>
            </a:avLst>
          </a:prstGeom>
          <a:noFill/>
          <a:ln w="6350">
            <a:solidFill>
              <a:srgbClr val="DDDAD0"/>
            </a:solidFill>
            <a:prstDash val="solid"/>
          </a:ln>
        </p:spPr>
      </p:sp>
      <p:sp>
        <p:nvSpPr>
          <p:cNvPr id="11" name="Text 8"/>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6"/>
                </a:solidFill>
                <a:latin typeface="DM Sans" pitchFamily="34" charset="0"/>
                <a:ea typeface="DM Sans" pitchFamily="34" charset="-122"/>
                <a:cs typeface="DM Sans" pitchFamily="34" charset="-120"/>
              </a:rPr>
              <a:t>CloudWiseAI · BCSE355L · Source: report, Figure 1, Section 7</a:t>
            </a:r>
            <a:endParaRPr lang="en-US" sz="1200" dirty="0"/>
          </a:p>
        </p:txBody>
      </p:sp>
      <p:sp>
        <p:nvSpPr>
          <p:cNvPr id="12" name="Text 9"/>
          <p:cNvSpPr/>
          <p:nvPr/>
        </p:nvSpPr>
        <p:spPr>
          <a:xfrm>
            <a:off x="9469374" y="6238239"/>
            <a:ext cx="1909826"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6"/>
                </a:solidFill>
                <a:latin typeface="DM Sans" pitchFamily="34" charset="0"/>
                <a:ea typeface="DM Sans" pitchFamily="34" charset="-122"/>
                <a:cs typeface="DM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A2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194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4EE"/>
                </a:solidFill>
                <a:latin typeface="DM Sans" pitchFamily="34" charset="0"/>
                <a:ea typeface="DM Sans" pitchFamily="34" charset="-122"/>
                <a:cs typeface="DM Sans" pitchFamily="34" charset="-120"/>
              </a:rPr>
              <a:t>A synthetic dataset modelled on the AWS Cost and Usage Report</a:t>
            </a:r>
            <a:endParaRPr lang="en-US" sz="3200" dirty="0"/>
          </a:p>
        </p:txBody>
      </p:sp>
      <p:sp>
        <p:nvSpPr>
          <p:cNvPr id="3" name="Shape 1"/>
          <p:cNvSpPr/>
          <p:nvPr/>
        </p:nvSpPr>
        <p:spPr>
          <a:xfrm>
            <a:off x="812800" y="2075182"/>
            <a:ext cx="2489200" cy="0"/>
          </a:xfrm>
          <a:prstGeom prst="line">
            <a:avLst/>
          </a:prstGeom>
          <a:noFill/>
          <a:ln w="25400">
            <a:solidFill>
              <a:srgbClr val="3CC8C0"/>
            </a:solidFill>
            <a:prstDash val="solid"/>
          </a:ln>
        </p:spPr>
      </p:sp>
      <p:sp>
        <p:nvSpPr>
          <p:cNvPr id="4" name="Text 2"/>
          <p:cNvSpPr/>
          <p:nvPr/>
        </p:nvSpPr>
        <p:spPr>
          <a:xfrm>
            <a:off x="812800" y="2240282"/>
            <a:ext cx="2563876"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5F4EE"/>
                </a:solidFill>
                <a:latin typeface="DM Sans" pitchFamily="34" charset="0"/>
                <a:ea typeface="DM Sans" pitchFamily="34" charset="-122"/>
                <a:cs typeface="DM Sans" pitchFamily="34" charset="-120"/>
              </a:rPr>
              <a:t>15,950</a:t>
            </a:r>
            <a:endParaRPr lang="en-US" sz="4800" dirty="0"/>
          </a:p>
        </p:txBody>
      </p:sp>
      <p:sp>
        <p:nvSpPr>
          <p:cNvPr id="5" name="Text 3"/>
          <p:cNvSpPr/>
          <p:nvPr/>
        </p:nvSpPr>
        <p:spPr>
          <a:xfrm>
            <a:off x="812800" y="2900682"/>
            <a:ext cx="256387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9DEE6"/>
                </a:solidFill>
                <a:latin typeface="DM Sans" pitchFamily="34" charset="0"/>
                <a:ea typeface="DM Sans" pitchFamily="34" charset="-122"/>
                <a:cs typeface="DM Sans" pitchFamily="34" charset="-120"/>
              </a:rPr>
              <a:t>daily records</a:t>
            </a:r>
            <a:endParaRPr lang="en-US" sz="1500" dirty="0"/>
          </a:p>
        </p:txBody>
      </p:sp>
      <p:sp>
        <p:nvSpPr>
          <p:cNvPr id="6" name="Shape 4"/>
          <p:cNvSpPr/>
          <p:nvPr/>
        </p:nvSpPr>
        <p:spPr>
          <a:xfrm>
            <a:off x="3505200" y="2075182"/>
            <a:ext cx="2489200" cy="0"/>
          </a:xfrm>
          <a:prstGeom prst="line">
            <a:avLst/>
          </a:prstGeom>
          <a:noFill/>
          <a:ln w="25400">
            <a:solidFill>
              <a:srgbClr val="3CC8C0"/>
            </a:solidFill>
            <a:prstDash val="solid"/>
          </a:ln>
        </p:spPr>
      </p:sp>
      <p:sp>
        <p:nvSpPr>
          <p:cNvPr id="7" name="Text 5"/>
          <p:cNvSpPr/>
          <p:nvPr/>
        </p:nvSpPr>
        <p:spPr>
          <a:xfrm>
            <a:off x="3505200" y="2240282"/>
            <a:ext cx="2563876"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5F4EE"/>
                </a:solidFill>
                <a:latin typeface="DM Sans" pitchFamily="34" charset="0"/>
                <a:ea typeface="DM Sans" pitchFamily="34" charset="-122"/>
                <a:cs typeface="DM Sans" pitchFamily="34" charset="-120"/>
              </a:rPr>
              <a:t>25</a:t>
            </a:r>
            <a:endParaRPr lang="en-US" sz="4800" dirty="0"/>
          </a:p>
        </p:txBody>
      </p:sp>
      <p:sp>
        <p:nvSpPr>
          <p:cNvPr id="8" name="Text 6"/>
          <p:cNvSpPr/>
          <p:nvPr/>
        </p:nvSpPr>
        <p:spPr>
          <a:xfrm>
            <a:off x="3505200" y="2900682"/>
            <a:ext cx="256387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9DEE6"/>
                </a:solidFill>
                <a:latin typeface="DM Sans" pitchFamily="34" charset="0"/>
                <a:ea typeface="DM Sans" pitchFamily="34" charset="-122"/>
                <a:cs typeface="DM Sans" pitchFamily="34" charset="-120"/>
              </a:rPr>
              <a:t>resources, 7 services</a:t>
            </a:r>
            <a:endParaRPr lang="en-US" sz="1500" dirty="0"/>
          </a:p>
        </p:txBody>
      </p:sp>
      <p:sp>
        <p:nvSpPr>
          <p:cNvPr id="9" name="Shape 7"/>
          <p:cNvSpPr/>
          <p:nvPr/>
        </p:nvSpPr>
        <p:spPr>
          <a:xfrm>
            <a:off x="6197600" y="2075182"/>
            <a:ext cx="2489200" cy="0"/>
          </a:xfrm>
          <a:prstGeom prst="line">
            <a:avLst/>
          </a:prstGeom>
          <a:noFill/>
          <a:ln w="25400">
            <a:solidFill>
              <a:srgbClr val="3CC8C0"/>
            </a:solidFill>
            <a:prstDash val="solid"/>
          </a:ln>
        </p:spPr>
      </p:sp>
      <p:sp>
        <p:nvSpPr>
          <p:cNvPr id="10" name="Text 8"/>
          <p:cNvSpPr/>
          <p:nvPr/>
        </p:nvSpPr>
        <p:spPr>
          <a:xfrm>
            <a:off x="6197600" y="2240282"/>
            <a:ext cx="2563876"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5F4EE"/>
                </a:solidFill>
                <a:latin typeface="DM Sans" pitchFamily="34" charset="0"/>
                <a:ea typeface="DM Sans" pitchFamily="34" charset="-122"/>
                <a:cs typeface="DM Sans" pitchFamily="34" charset="-120"/>
              </a:rPr>
              <a:t>638</a:t>
            </a:r>
            <a:endParaRPr lang="en-US" sz="4800" dirty="0"/>
          </a:p>
        </p:txBody>
      </p:sp>
      <p:sp>
        <p:nvSpPr>
          <p:cNvPr id="11" name="Text 9"/>
          <p:cNvSpPr/>
          <p:nvPr/>
        </p:nvSpPr>
        <p:spPr>
          <a:xfrm>
            <a:off x="6197600" y="2900682"/>
            <a:ext cx="256387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9DEE6"/>
                </a:solidFill>
                <a:latin typeface="DM Sans" pitchFamily="34" charset="0"/>
                <a:ea typeface="DM Sans" pitchFamily="34" charset="-122"/>
                <a:cs typeface="DM Sans" pitchFamily="34" charset="-120"/>
              </a:rPr>
              <a:t>days, Jan 2025 to Sep 2026</a:t>
            </a:r>
            <a:endParaRPr lang="en-US" sz="1500" dirty="0"/>
          </a:p>
        </p:txBody>
      </p:sp>
      <p:sp>
        <p:nvSpPr>
          <p:cNvPr id="12" name="Shape 10"/>
          <p:cNvSpPr/>
          <p:nvPr/>
        </p:nvSpPr>
        <p:spPr>
          <a:xfrm>
            <a:off x="8890000" y="2075182"/>
            <a:ext cx="2489200" cy="0"/>
          </a:xfrm>
          <a:prstGeom prst="line">
            <a:avLst/>
          </a:prstGeom>
          <a:noFill/>
          <a:ln w="25400">
            <a:solidFill>
              <a:srgbClr val="F2B84B"/>
            </a:solidFill>
            <a:prstDash val="solid"/>
          </a:ln>
        </p:spPr>
      </p:sp>
      <p:sp>
        <p:nvSpPr>
          <p:cNvPr id="13" name="Text 11"/>
          <p:cNvSpPr/>
          <p:nvPr/>
        </p:nvSpPr>
        <p:spPr>
          <a:xfrm>
            <a:off x="8890000" y="2240282"/>
            <a:ext cx="2563876"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5F4EE"/>
                </a:solidFill>
                <a:latin typeface="DM Sans" pitchFamily="34" charset="0"/>
                <a:ea typeface="DM Sans" pitchFamily="34" charset="-122"/>
                <a:cs typeface="DM Sans" pitchFamily="34" charset="-120"/>
              </a:rPr>
              <a:t>8</a:t>
            </a:r>
            <a:endParaRPr lang="en-US" sz="4800" dirty="0"/>
          </a:p>
        </p:txBody>
      </p:sp>
      <p:sp>
        <p:nvSpPr>
          <p:cNvPr id="14" name="Text 12"/>
          <p:cNvSpPr/>
          <p:nvPr/>
        </p:nvSpPr>
        <p:spPr>
          <a:xfrm>
            <a:off x="8890000" y="2900682"/>
            <a:ext cx="256387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9DEE6"/>
                </a:solidFill>
                <a:latin typeface="DM Sans" pitchFamily="34" charset="0"/>
                <a:ea typeface="DM Sans" pitchFamily="34" charset="-122"/>
                <a:cs typeface="DM Sans" pitchFamily="34" charset="-120"/>
              </a:rPr>
              <a:t>injected anomaly events</a:t>
            </a:r>
            <a:endParaRPr lang="en-US" sz="1500" dirty="0"/>
          </a:p>
        </p:txBody>
      </p:sp>
      <p:sp>
        <p:nvSpPr>
          <p:cNvPr id="15" name="Text 13"/>
          <p:cNvSpPr/>
          <p:nvPr/>
        </p:nvSpPr>
        <p:spPr>
          <a:xfrm>
            <a:off x="812800" y="3522982"/>
            <a:ext cx="9810750" cy="90932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D9DEE6"/>
                </a:solidFill>
                <a:latin typeface="DM Sans" pitchFamily="34" charset="0"/>
                <a:ea typeface="DM Sans" pitchFamily="34" charset="-122"/>
                <a:cs typeface="DM Sans" pitchFamily="34" charset="-120"/>
              </a:rPr>
              <a:t>9 columns: date, billing period, service, region, resource ID, usage hours, storage, CPU use, cost. About $495,700 total spend, EC2 the largest share. Generated with a fixed seed so results can be reproduced. No real customer data was available.</a:t>
            </a:r>
            <a:endParaRPr lang="en-US" sz="1600" dirty="0"/>
          </a:p>
        </p:txBody>
      </p:sp>
      <p:sp>
        <p:nvSpPr>
          <p:cNvPr id="16" name="Text 14"/>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3"/>
                </a:solidFill>
                <a:latin typeface="DM Sans" pitchFamily="34" charset="0"/>
                <a:ea typeface="DM Sans" pitchFamily="34" charset="-122"/>
                <a:cs typeface="DM Sans" pitchFamily="34" charset="-120"/>
              </a:rPr>
              <a:t>CloudWiseAI · BCSE355L · Source: report, Section 6</a:t>
            </a:r>
            <a:endParaRPr lang="en-US" sz="1200" dirty="0"/>
          </a:p>
        </p:txBody>
      </p:sp>
      <p:sp>
        <p:nvSpPr>
          <p:cNvPr id="17" name="Text 15"/>
          <p:cNvSpPr/>
          <p:nvPr/>
        </p:nvSpPr>
        <p:spPr>
          <a:xfrm>
            <a:off x="9469374" y="6238239"/>
            <a:ext cx="1909826"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0C3"/>
                </a:solidFill>
                <a:latin typeface="DM Sans" pitchFamily="34" charset="0"/>
                <a:ea typeface="DM Sans" pitchFamily="34" charset="-122"/>
                <a:cs typeface="DM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203180" cy="8636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DM Sans" pitchFamily="34" charset="0"/>
                <a:ea typeface="DM Sans" pitchFamily="34" charset="-122"/>
                <a:cs typeface="DM Sans" pitchFamily="34" charset="-120"/>
              </a:rPr>
              <a:t>Weekday-aware detector: 8 of 8 events found, no false alarms</a:t>
            </a:r>
            <a:endParaRPr lang="en-US" sz="3000" dirty="0"/>
          </a:p>
        </p:txBody>
      </p:sp>
      <p:sp>
        <p:nvSpPr>
          <p:cNvPr id="3" name="Shape 1"/>
          <p:cNvSpPr/>
          <p:nvPr/>
        </p:nvSpPr>
        <p:spPr>
          <a:xfrm>
            <a:off x="812800" y="1905000"/>
            <a:ext cx="6350000" cy="2819400"/>
          </a:xfrm>
          <a:prstGeom prst="roundRect">
            <a:avLst>
              <a:gd name="adj" fmla="val 3604"/>
            </a:avLst>
          </a:prstGeom>
          <a:solidFill>
            <a:srgbClr val="FFFFFF"/>
          </a:solidFill>
          <a:ln/>
        </p:spPr>
      </p:sp>
      <p:pic>
        <p:nvPicPr>
          <p:cNvPr id="4" name="Image 0" descr="Chart comparing the weekday-aware detector with a rolling 3-sigma baseline on the labelled anomalies">    </p:cNvPr>
          <p:cNvPicPr>
            <a:picLocks noChangeAspect="1"/>
          </p:cNvPicPr>
          <p:nvPr/>
        </p:nvPicPr>
        <p:blipFill>
          <a:blip r:embed="rId1"/>
          <a:srcRect l="-176" r="-176" t="0" b="0"/>
          <a:stretch/>
        </p:blipFill>
        <p:spPr>
          <a:xfrm>
            <a:off x="819150" y="1911350"/>
            <a:ext cx="6337300" cy="2806700"/>
          </a:xfrm>
          <a:prstGeom prst="roundRect">
            <a:avLst>
              <a:gd name="adj" fmla="val 3394"/>
            </a:avLst>
          </a:prstGeom>
        </p:spPr>
      </p:pic>
      <p:sp>
        <p:nvSpPr>
          <p:cNvPr id="5" name="Shape 2"/>
          <p:cNvSpPr/>
          <p:nvPr/>
        </p:nvSpPr>
        <p:spPr>
          <a:xfrm>
            <a:off x="815975" y="1908175"/>
            <a:ext cx="6343650" cy="2813050"/>
          </a:xfrm>
          <a:prstGeom prst="roundRect">
            <a:avLst>
              <a:gd name="adj" fmla="val 3499"/>
            </a:avLst>
          </a:prstGeom>
          <a:noFill/>
          <a:ln w="6350">
            <a:solidFill>
              <a:srgbClr val="DDDAD0"/>
            </a:solidFill>
            <a:prstDash val="solid"/>
          </a:ln>
        </p:spPr>
      </p:sp>
      <p:sp>
        <p:nvSpPr>
          <p:cNvPr id="6" name="Text 3"/>
          <p:cNvSpPr/>
          <p:nvPr/>
        </p:nvSpPr>
        <p:spPr>
          <a:xfrm>
            <a:off x="7467600" y="2197736"/>
            <a:ext cx="4028948"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3D4A5C"/>
                </a:solidFill>
                <a:latin typeface="DM Sans" pitchFamily="34" charset="0"/>
                <a:ea typeface="DM Sans" pitchFamily="34" charset="-122"/>
                <a:cs typeface="DM Sans" pitchFamily="34" charset="-120"/>
              </a:rPr>
              <a:t>Weekday-aware robust z-score</a:t>
            </a:r>
            <a:endParaRPr lang="en-US" sz="1500" dirty="0"/>
          </a:p>
          <a:p>
            <a:pPr algn="l" indent="0" marL="0">
              <a:lnSpc>
                <a:spcPts val="2025"/>
              </a:lnSpc>
              <a:buNone/>
            </a:pPr>
            <a:r>
              <a:rPr lang="en-US" sz="1500" dirty="0">
                <a:solidFill>
                  <a:srgbClr val="3D4A5C"/>
                </a:solidFill>
                <a:latin typeface="DM Sans" pitchFamily="34" charset="0"/>
                <a:ea typeface="DM Sans" pitchFamily="34" charset="-122"/>
                <a:cs typeface="DM Sans" pitchFamily="34" charset="-120"/>
              </a:rPr>
              <a:t>precision 1.00 · recall 1.00</a:t>
            </a:r>
            <a:endParaRPr lang="en-US" sz="1500" dirty="0"/>
          </a:p>
        </p:txBody>
      </p:sp>
      <p:sp>
        <p:nvSpPr>
          <p:cNvPr id="7" name="Text 4"/>
          <p:cNvSpPr/>
          <p:nvPr/>
        </p:nvSpPr>
        <p:spPr>
          <a:xfrm>
            <a:off x="7467600" y="2851786"/>
            <a:ext cx="4028948" cy="79692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3D4A5C"/>
                </a:solidFill>
                <a:latin typeface="DM Sans" pitchFamily="34" charset="0"/>
                <a:ea typeface="DM Sans" pitchFamily="34" charset="-122"/>
                <a:cs typeface="DM Sans" pitchFamily="34" charset="-120"/>
              </a:rPr>
              <a:t>Rolling 3-sigma baseline</a:t>
            </a:r>
            <a:endParaRPr lang="en-US" sz="1500" dirty="0"/>
          </a:p>
          <a:p>
            <a:pPr algn="l" indent="0" marL="0">
              <a:lnSpc>
                <a:spcPts val="2025"/>
              </a:lnSpc>
              <a:buNone/>
            </a:pPr>
            <a:r>
              <a:rPr lang="en-US" sz="1500" dirty="0">
                <a:solidFill>
                  <a:srgbClr val="3D4A5C"/>
                </a:solidFill>
                <a:latin typeface="DM Sans" pitchFamily="34" charset="0"/>
                <a:ea typeface="DM Sans" pitchFamily="34" charset="-122"/>
                <a:cs typeface="DM Sans" pitchFamily="34" charset="-120"/>
              </a:rPr>
              <a:t>precision 0.24 · recall 0.90</a:t>
            </a:r>
            <a:endParaRPr lang="en-US" sz="1500" dirty="0"/>
          </a:p>
          <a:p>
            <a:pPr algn="l" indent="0" marL="0">
              <a:lnSpc>
                <a:spcPts val="2025"/>
              </a:lnSpc>
              <a:buNone/>
            </a:pPr>
            <a:r>
              <a:rPr lang="en-US" sz="1500" dirty="0">
                <a:solidFill>
                  <a:srgbClr val="3D4A5C"/>
                </a:solidFill>
                <a:latin typeface="DM Sans" pitchFamily="34" charset="0"/>
                <a:ea typeface="DM Sans" pitchFamily="34" charset="-122"/>
                <a:cs typeface="DM Sans" pitchFamily="34" charset="-120"/>
              </a:rPr>
              <a:t>57 false-alarm events</a:t>
            </a:r>
            <a:endParaRPr lang="en-US" sz="1500" dirty="0"/>
          </a:p>
        </p:txBody>
      </p:sp>
      <p:sp>
        <p:nvSpPr>
          <p:cNvPr id="8" name="Text 5"/>
          <p:cNvSpPr/>
          <p:nvPr/>
        </p:nvSpPr>
        <p:spPr>
          <a:xfrm>
            <a:off x="7467600" y="3763011"/>
            <a:ext cx="4028948" cy="69405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B6676"/>
                </a:solidFill>
                <a:latin typeface="DM Sans" pitchFamily="34" charset="0"/>
                <a:ea typeface="DM Sans" pitchFamily="34" charset="-122"/>
                <a:cs typeface="DM Sans" pitchFamily="34" charset="-120"/>
              </a:rPr>
              <a:t>Baseline per resource: median and MAD of the same weekday over 8 weeks. Flag when z ≥ 4 and cost ≥ 1.4× expected.</a:t>
            </a:r>
            <a:endParaRPr lang="en-US" sz="1300" dirty="0"/>
          </a:p>
        </p:txBody>
      </p:sp>
      <p:sp>
        <p:nvSpPr>
          <p:cNvPr id="9" name="Text 6"/>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6"/>
                </a:solidFill>
                <a:latin typeface="DM Sans" pitchFamily="34" charset="0"/>
                <a:ea typeface="DM Sans" pitchFamily="34" charset="-122"/>
                <a:cs typeface="DM Sans" pitchFamily="34" charset="-120"/>
              </a:rPr>
              <a:t>CloudWiseAI · BCSE355L · Synthetic data, so optimistic · Source: report, Section 10.2</a:t>
            </a:r>
            <a:endParaRPr lang="en-US" sz="1200" dirty="0"/>
          </a:p>
        </p:txBody>
      </p:sp>
      <p:sp>
        <p:nvSpPr>
          <p:cNvPr id="10" name="Text 7"/>
          <p:cNvSpPr/>
          <p:nvPr/>
        </p:nvSpPr>
        <p:spPr>
          <a:xfrm>
            <a:off x="9469374" y="6238242"/>
            <a:ext cx="1909826"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6"/>
                </a:solidFill>
                <a:latin typeface="DM Sans" pitchFamily="34" charset="0"/>
                <a:ea typeface="DM Sans" pitchFamily="34" charset="-122"/>
                <a:cs typeface="DM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203180" cy="8636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DM Sans" pitchFamily="34" charset="0"/>
                <a:ea typeface="DM Sans" pitchFamily="34" charset="-122"/>
                <a:cs typeface="DM Sans" pitchFamily="34" charset="-120"/>
              </a:rPr>
              <a:t>Forecast: ridge model reaches 0.45% monthly error against 2.47% for the baseline</a:t>
            </a:r>
            <a:endParaRPr lang="en-US" sz="3000" dirty="0"/>
          </a:p>
        </p:txBody>
      </p:sp>
      <p:sp>
        <p:nvSpPr>
          <p:cNvPr id="3" name="Shape 1"/>
          <p:cNvSpPr/>
          <p:nvPr/>
        </p:nvSpPr>
        <p:spPr>
          <a:xfrm>
            <a:off x="812800" y="1905000"/>
            <a:ext cx="6350000" cy="2997200"/>
          </a:xfrm>
          <a:prstGeom prst="roundRect">
            <a:avLst>
              <a:gd name="adj" fmla="val 3390"/>
            </a:avLst>
          </a:prstGeom>
          <a:solidFill>
            <a:srgbClr val="FFFFFF"/>
          </a:solidFill>
          <a:ln/>
        </p:spPr>
      </p:sp>
      <p:pic>
        <p:nvPicPr>
          <p:cNvPr id="4" name="Image 0" descr="Chart of actual monthly spend and the three-month ridge forecast">    </p:cNvPr>
          <p:cNvPicPr>
            <a:picLocks noChangeAspect="1"/>
          </p:cNvPicPr>
          <p:nvPr/>
        </p:nvPicPr>
        <p:blipFill>
          <a:blip r:embed="rId1"/>
          <a:srcRect l="-136" r="-136" t="0" b="0"/>
          <a:stretch/>
        </p:blipFill>
        <p:spPr>
          <a:xfrm>
            <a:off x="819150" y="1911350"/>
            <a:ext cx="6337300" cy="2984500"/>
          </a:xfrm>
          <a:prstGeom prst="roundRect">
            <a:avLst>
              <a:gd name="adj" fmla="val 3191"/>
            </a:avLst>
          </a:prstGeom>
        </p:spPr>
      </p:pic>
      <p:sp>
        <p:nvSpPr>
          <p:cNvPr id="5" name="Shape 2"/>
          <p:cNvSpPr/>
          <p:nvPr/>
        </p:nvSpPr>
        <p:spPr>
          <a:xfrm>
            <a:off x="815975" y="1908175"/>
            <a:ext cx="6343650" cy="2990850"/>
          </a:xfrm>
          <a:prstGeom prst="roundRect">
            <a:avLst>
              <a:gd name="adj" fmla="val 3291"/>
            </a:avLst>
          </a:prstGeom>
          <a:noFill/>
          <a:ln w="6350">
            <a:solidFill>
              <a:srgbClr val="DDDAD0"/>
            </a:solidFill>
            <a:prstDash val="solid"/>
          </a:ln>
        </p:spPr>
      </p:sp>
      <p:sp>
        <p:nvSpPr>
          <p:cNvPr id="6" name="Text 3"/>
          <p:cNvSpPr/>
          <p:nvPr/>
        </p:nvSpPr>
        <p:spPr>
          <a:xfrm>
            <a:off x="7467600" y="2088201"/>
            <a:ext cx="4028948"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3D4A5C"/>
                </a:solidFill>
                <a:latin typeface="DM Sans" pitchFamily="34" charset="0"/>
                <a:ea typeface="DM Sans" pitchFamily="34" charset="-122"/>
                <a:cs typeface="DM Sans" pitchFamily="34" charset="-120"/>
              </a:rPr>
              <a:t>Rolling-origin backtest</a:t>
            </a:r>
            <a:r>
              <a:rPr lang="en-US" sz="1500" dirty="0">
                <a:solidFill>
                  <a:srgbClr val="3D4A5C"/>
                </a:solidFill>
                <a:latin typeface="DM Sans" pitchFamily="34" charset="0"/>
                <a:ea typeface="DM Sans" pitchFamily="34" charset="-122"/>
                <a:cs typeface="DM Sans" pitchFamily="34" charset="-120"/>
              </a:rPr>
              <a:t>, 7 origins, horizons 1 to 3 months</a:t>
            </a:r>
            <a:endParaRPr lang="en-US" sz="1500" dirty="0"/>
          </a:p>
        </p:txBody>
      </p:sp>
      <p:sp>
        <p:nvSpPr>
          <p:cNvPr id="7" name="Text 4"/>
          <p:cNvSpPr/>
          <p:nvPr/>
        </p:nvSpPr>
        <p:spPr>
          <a:xfrm>
            <a:off x="7467600" y="2742251"/>
            <a:ext cx="4028948"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D4A5C"/>
                </a:solidFill>
                <a:latin typeface="DM Sans" pitchFamily="34" charset="0"/>
                <a:ea typeface="DM Sans" pitchFamily="34" charset="-122"/>
                <a:cs typeface="DM Sans" pitchFamily="34" charset="-120"/>
              </a:rPr>
              <a:t>Ridge 0.45% · ridge + XGBoost 0.48% · seasonal-naive 2.47%</a:t>
            </a:r>
            <a:endParaRPr lang="en-US" sz="1500" dirty="0"/>
          </a:p>
        </p:txBody>
      </p:sp>
      <p:sp>
        <p:nvSpPr>
          <p:cNvPr id="8" name="Text 5"/>
          <p:cNvSpPr/>
          <p:nvPr/>
        </p:nvSpPr>
        <p:spPr>
          <a:xfrm>
            <a:off x="7467600" y="3396301"/>
            <a:ext cx="4028948"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3D4A5C"/>
                </a:solidFill>
                <a:latin typeface="DM Sans" pitchFamily="34" charset="0"/>
                <a:ea typeface="DM Sans" pitchFamily="34" charset="-122"/>
                <a:cs typeface="DM Sans" pitchFamily="34" charset="-120"/>
              </a:rPr>
              <a:t>Forecast:</a:t>
            </a:r>
            <a:r>
              <a:rPr lang="en-US" sz="1500" dirty="0">
                <a:solidFill>
                  <a:srgbClr val="3D4A5C"/>
                </a:solidFill>
                <a:latin typeface="DM Sans" pitchFamily="34" charset="0"/>
                <a:ea typeface="DM Sans" pitchFamily="34" charset="-122"/>
                <a:cs typeface="DM Sans" pitchFamily="34" charset="-120"/>
              </a:rPr>
              <a:t> Oct $26,474 · Nov $26,156 · Dec $27,851 (2026)</a:t>
            </a:r>
            <a:endParaRPr lang="en-US" sz="1500" dirty="0"/>
          </a:p>
        </p:txBody>
      </p:sp>
      <p:sp>
        <p:nvSpPr>
          <p:cNvPr id="9" name="Text 6"/>
          <p:cNvSpPr/>
          <p:nvPr/>
        </p:nvSpPr>
        <p:spPr>
          <a:xfrm>
            <a:off x="7467600" y="4050351"/>
            <a:ext cx="4028948" cy="69405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B6676"/>
                </a:solidFill>
                <a:latin typeface="DM Sans" pitchFamily="34" charset="0"/>
                <a:ea typeface="DM Sans" pitchFamily="34" charset="-122"/>
                <a:cs typeface="DM Sans" pitchFamily="34" charset="-120"/>
              </a:rPr>
              <a:t>The data is generated from trend, weekday and yearly terms that ridge fits exactly, so real data will be harder.</a:t>
            </a:r>
            <a:endParaRPr lang="en-US" sz="1300" dirty="0"/>
          </a:p>
        </p:txBody>
      </p:sp>
      <p:sp>
        <p:nvSpPr>
          <p:cNvPr id="10" name="Text 7"/>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6"/>
                </a:solidFill>
                <a:latin typeface="DM Sans" pitchFamily="34" charset="0"/>
                <a:ea typeface="DM Sans" pitchFamily="34" charset="-122"/>
                <a:cs typeface="DM Sans" pitchFamily="34" charset="-120"/>
              </a:rPr>
              <a:t>CloudWiseAI · BCSE355L · Synthetic data, so optimistic · Source: report, Section 10.2</a:t>
            </a:r>
            <a:endParaRPr lang="en-US" sz="1200" dirty="0"/>
          </a:p>
        </p:txBody>
      </p:sp>
      <p:sp>
        <p:nvSpPr>
          <p:cNvPr id="11" name="Text 8"/>
          <p:cNvSpPr/>
          <p:nvPr/>
        </p:nvSpPr>
        <p:spPr>
          <a:xfrm>
            <a:off x="9469374" y="6238242"/>
            <a:ext cx="1909826"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6"/>
                </a:solidFill>
                <a:latin typeface="DM Sans" pitchFamily="34" charset="0"/>
                <a:ea typeface="DM Sans" pitchFamily="34" charset="-122"/>
                <a:cs typeface="DM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1379200"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DM Sans" pitchFamily="34" charset="0"/>
                <a:ea typeface="DM Sans" pitchFamily="34" charset="-122"/>
                <a:cs typeface="DM Sans" pitchFamily="34" charset="-120"/>
              </a:rPr>
              <a:t>Six recommendations worth about $7,507 per month</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470660"/>
          <a:ext cx="10556240" cy="2871470"/>
        </p:xfrm>
        <a:graphic>
          <a:graphicData uri="http://schemas.openxmlformats.org/drawingml/2006/table">
            <a:tbl>
              <a:tblPr/>
              <a:tblGrid>
                <a:gridCol w="7389368"/>
                <a:gridCol w="3166872"/>
              </a:tblGrid>
              <a:tr h="410210">
                <a:tc>
                  <a:txBody>
                    <a:bodyPr/>
                    <a:lstStyle/>
                    <a:p>
                      <a:pPr indent="0" marL="0">
                        <a:lnSpc>
                          <a:spcPts val="2100"/>
                        </a:lnSpc>
                        <a:buNone/>
                      </a:pPr>
                      <a:r>
                        <a:rPr lang="en-US" sz="1500" b="1" dirty="0">
                          <a:solidFill>
                            <a:srgbClr val="14213D"/>
                          </a:solidFill>
                          <a:latin typeface="DM Sans" pitchFamily="34" charset="0"/>
                          <a:ea typeface="DM Sans" pitchFamily="34" charset="-122"/>
                          <a:cs typeface="DM Sans" pitchFamily="34" charset="-120"/>
                        </a:rPr>
                        <a:t>Recommendation</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B5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5B5B0"/>
                      </a:solidFill>
                      <a:prstDash val="solid"/>
                      <a:round/>
                      <a:headEnd type="none" w="med" len="med"/>
                      <a:tailEnd type="none" w="med" len="med"/>
                    </a:lnB>
                    <a:solidFill>
                      <a:srgbClr val="E3E2DC"/>
                    </a:solidFill>
                  </a:tcPr>
                </a:tc>
                <a:tc>
                  <a:txBody>
                    <a:bodyPr/>
                    <a:lstStyle/>
                    <a:p>
                      <a:pPr algn="r" indent="0" marL="0">
                        <a:lnSpc>
                          <a:spcPts val="2100"/>
                        </a:lnSpc>
                        <a:buNone/>
                      </a:pPr>
                      <a:r>
                        <a:rPr lang="en-US" sz="1500" b="1" dirty="0">
                          <a:solidFill>
                            <a:srgbClr val="14213D"/>
                          </a:solidFill>
                          <a:latin typeface="DM Sans" pitchFamily="34" charset="0"/>
                          <a:ea typeface="DM Sans" pitchFamily="34" charset="-122"/>
                          <a:cs typeface="DM Sans" pitchFamily="34" charset="-120"/>
                        </a:rPr>
                        <a:t>Est. saving / month</a:t>
                      </a:r>
                      <a:endParaRPr lang="en-US" sz="1500" dirty="0">
                        <a:latin typeface="DM Sans" charset="0"/>
                        <a:ea typeface="DM Sans" charset="0"/>
                        <a:cs typeface="DM Sans" charset="0"/>
                      </a:endParaRPr>
                    </a:p>
                  </a:txBody>
                  <a:tcPr marL="66675" marR="66675" marT="66675" marB="66675" anchor="t">
                    <a:lnL w="12700" cap="flat" cmpd="sng" algn="ctr">
                      <a:solidFill>
                        <a:srgbClr val="B5B5B0"/>
                      </a:solidFill>
                      <a:prstDash val="solid"/>
                      <a:round/>
                      <a:headEnd type="none" w="med" len="med"/>
                      <a:tailEnd type="none" w="med" len="med"/>
                    </a:lnL>
                    <a:lnR w="12700" cap="flat" cmpd="sng" algn="ctr">
                      <a:solidFill>
                        <a:srgbClr val="B5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5B5B0"/>
                      </a:solidFill>
                      <a:prstDash val="solid"/>
                      <a:round/>
                      <a:headEnd type="none" w="med" len="med"/>
                      <a:tailEnd type="none" w="med" len="med"/>
                    </a:lnB>
                    <a:solidFill>
                      <a:srgbClr val="E3E2DC"/>
                    </a:solidFill>
                  </a:tcPr>
                </a:tc>
              </a:tr>
              <a:tr h="410210">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Right-size 4 under-used EC2 instances</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5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2100"/>
                        </a:lnSpc>
                        <a:buNone/>
                      </a:pPr>
                      <a:r>
                        <a:rPr lang="en-US" sz="1500" dirty="0">
                          <a:solidFill>
                            <a:srgbClr val="14213D"/>
                          </a:solidFill>
                          <a:latin typeface="DM Sans" pitchFamily="34" charset="0"/>
                          <a:ea typeface="DM Sans" pitchFamily="34" charset="-122"/>
                          <a:cs typeface="DM Sans" pitchFamily="34" charset="-120"/>
                        </a:rPr>
                        <a:t>$3,516.52</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5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10210">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Buy a Savings Plan</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2100"/>
                        </a:lnSpc>
                        <a:buNone/>
                      </a:pPr>
                      <a:r>
                        <a:rPr lang="en-US" sz="1500" dirty="0">
                          <a:solidFill>
                            <a:srgbClr val="14213D"/>
                          </a:solidFill>
                          <a:latin typeface="DM Sans" pitchFamily="34" charset="0"/>
                          <a:ea typeface="DM Sans" pitchFamily="34" charset="-122"/>
                          <a:cs typeface="DM Sans" pitchFamily="34" charset="-120"/>
                        </a:rPr>
                        <a:t>$1,371.53</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10210">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S3 lifecycle: move cold data to cheaper tiers</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2100"/>
                        </a:lnSpc>
                        <a:buNone/>
                      </a:pPr>
                      <a:r>
                        <a:rPr lang="en-US" sz="1500" dirty="0">
                          <a:solidFill>
                            <a:srgbClr val="14213D"/>
                          </a:solidFill>
                          <a:latin typeface="DM Sans" pitchFamily="34" charset="0"/>
                          <a:ea typeface="DM Sans" pitchFamily="34" charset="-122"/>
                          <a:cs typeface="DM Sans" pitchFamily="34" charset="-120"/>
                        </a:rPr>
                        <a:t>$1,183.82</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10210">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RDS reserved instance</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2100"/>
                        </a:lnSpc>
                        <a:buNone/>
                      </a:pPr>
                      <a:r>
                        <a:rPr lang="en-US" sz="1500" dirty="0">
                          <a:solidFill>
                            <a:srgbClr val="14213D"/>
                          </a:solidFill>
                          <a:latin typeface="DM Sans" pitchFamily="34" charset="0"/>
                          <a:ea typeface="DM Sans" pitchFamily="34" charset="-122"/>
                          <a:cs typeface="DM Sans" pitchFamily="34" charset="-120"/>
                        </a:rPr>
                        <a:t>$854.09</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10210">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Remove 3 unattached EBS volumes</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2100"/>
                        </a:lnSpc>
                        <a:buNone/>
                      </a:pPr>
                      <a:r>
                        <a:rPr lang="en-US" sz="1500" dirty="0">
                          <a:solidFill>
                            <a:srgbClr val="14213D"/>
                          </a:solidFill>
                          <a:latin typeface="DM Sans" pitchFamily="34" charset="0"/>
                          <a:ea typeface="DM Sans" pitchFamily="34" charset="-122"/>
                          <a:cs typeface="DM Sans" pitchFamily="34" charset="-120"/>
                        </a:rPr>
                        <a:t>$306.73</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10210">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Right-size 1 RDS instance</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2100"/>
                        </a:lnSpc>
                        <a:buNone/>
                      </a:pPr>
                      <a:r>
                        <a:rPr lang="en-US" sz="1500" dirty="0">
                          <a:solidFill>
                            <a:srgbClr val="14213D"/>
                          </a:solidFill>
                          <a:latin typeface="DM Sans" pitchFamily="34" charset="0"/>
                          <a:ea typeface="DM Sans" pitchFamily="34" charset="-122"/>
                          <a:cs typeface="DM Sans" pitchFamily="34" charset="-120"/>
                        </a:rPr>
                        <a:t>$274.23</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bl>
          </a:graphicData>
        </a:graphic>
      </p:graphicFrame>
      <p:sp>
        <p:nvSpPr>
          <p:cNvPr id="4" name="Text 1"/>
          <p:cNvSpPr/>
          <p:nvPr/>
        </p:nvSpPr>
        <p:spPr>
          <a:xfrm>
            <a:off x="812800" y="4570729"/>
            <a:ext cx="10883392" cy="5943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E70"/>
                </a:solidFill>
                <a:latin typeface="DM Sans" pitchFamily="34" charset="0"/>
                <a:ea typeface="DM Sans" pitchFamily="34" charset="-122"/>
                <a:cs typeface="DM Sans" pitchFamily="34" charset="-120"/>
              </a:rPr>
              <a:t>Total: $7,506.92 per month, about 30% of current spend. Each rule names its resources and its assumption.</a:t>
            </a:r>
            <a:endParaRPr lang="en-US" sz="1600" dirty="0"/>
          </a:p>
        </p:txBody>
      </p:sp>
      <p:sp>
        <p:nvSpPr>
          <p:cNvPr id="5" name="Text 2"/>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6"/>
                </a:solidFill>
                <a:latin typeface="DM Sans" pitchFamily="34" charset="0"/>
                <a:ea typeface="DM Sans" pitchFamily="34" charset="-122"/>
                <a:cs typeface="DM Sans" pitchFamily="34" charset="-120"/>
              </a:rPr>
              <a:t>CloudWiseAI · BCSE355L · Upper bound on synthetic data · Source: report, Section 10.2</a:t>
            </a:r>
            <a:endParaRPr lang="en-US" sz="1200" dirty="0"/>
          </a:p>
        </p:txBody>
      </p:sp>
      <p:sp>
        <p:nvSpPr>
          <p:cNvPr id="6" name="Text 3"/>
          <p:cNvSpPr/>
          <p:nvPr/>
        </p:nvSpPr>
        <p:spPr>
          <a:xfrm>
            <a:off x="9469374" y="6238242"/>
            <a:ext cx="1909826"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6"/>
                </a:solidFill>
                <a:latin typeface="DM Sans" pitchFamily="34" charset="0"/>
                <a:ea typeface="DM Sans" pitchFamily="34" charset="-122"/>
                <a:cs typeface="DM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A2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203180" cy="8636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5F4EE"/>
                </a:solidFill>
                <a:latin typeface="DM Sans" pitchFamily="34" charset="0"/>
                <a:ea typeface="DM Sans" pitchFamily="34" charset="-122"/>
                <a:cs typeface="DM Sans" pitchFamily="34" charset="-120"/>
              </a:rPr>
              <a:t>The dashboard, running against the loaded PostgreSQL data</a:t>
            </a:r>
            <a:endParaRPr lang="en-US" sz="3000" dirty="0"/>
          </a:p>
        </p:txBody>
      </p:sp>
      <p:sp>
        <p:nvSpPr>
          <p:cNvPr id="3" name="Shape 1"/>
          <p:cNvSpPr/>
          <p:nvPr/>
        </p:nvSpPr>
        <p:spPr>
          <a:xfrm>
            <a:off x="812800" y="1879600"/>
            <a:ext cx="5080000" cy="3048000"/>
          </a:xfrm>
          <a:prstGeom prst="roundRect">
            <a:avLst>
              <a:gd name="adj" fmla="val 2500"/>
            </a:avLst>
          </a:prstGeom>
          <a:solidFill>
            <a:srgbClr val="10151D"/>
          </a:solidFill>
          <a:ln/>
        </p:spPr>
      </p:sp>
      <p:pic>
        <p:nvPicPr>
          <p:cNvPr id="4" name="Image 0" descr="Dashboard screenshot: current spend, forecast, savings, anomalies and spend by service">    </p:cNvPr>
          <p:cNvPicPr>
            <a:picLocks noChangeAspect="1"/>
          </p:cNvPicPr>
          <p:nvPr/>
        </p:nvPicPr>
        <p:blipFill>
          <a:blip r:embed="rId1"/>
          <a:srcRect l="-24" r="-24" t="0" b="0"/>
          <a:stretch/>
        </p:blipFill>
        <p:spPr>
          <a:xfrm>
            <a:off x="812800" y="1879600"/>
            <a:ext cx="5080000" cy="3048000"/>
          </a:xfrm>
          <a:prstGeom prst="roundRect">
            <a:avLst>
              <a:gd name="adj" fmla="val 2500"/>
            </a:avLst>
          </a:prstGeom>
        </p:spPr>
      </p:pic>
      <p:sp>
        <p:nvSpPr>
          <p:cNvPr id="5" name="Text 2"/>
          <p:cNvSpPr/>
          <p:nvPr/>
        </p:nvSpPr>
        <p:spPr>
          <a:xfrm>
            <a:off x="812800" y="5029200"/>
            <a:ext cx="52324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9DEE6"/>
                </a:solidFill>
                <a:latin typeface="DM Sans" pitchFamily="34" charset="0"/>
                <a:ea typeface="DM Sans" pitchFamily="34" charset="-122"/>
                <a:cs typeface="DM Sans" pitchFamily="34" charset="-120"/>
              </a:rPr>
              <a:t>Dashboard: spend, forecast, savings, anomalies</a:t>
            </a:r>
            <a:endParaRPr lang="en-US" sz="1400" dirty="0"/>
          </a:p>
        </p:txBody>
      </p:sp>
      <p:sp>
        <p:nvSpPr>
          <p:cNvPr id="6" name="Shape 3"/>
          <p:cNvSpPr/>
          <p:nvPr/>
        </p:nvSpPr>
        <p:spPr>
          <a:xfrm>
            <a:off x="6299200" y="1879600"/>
            <a:ext cx="5080000" cy="3048000"/>
          </a:xfrm>
          <a:prstGeom prst="roundRect">
            <a:avLst>
              <a:gd name="adj" fmla="val 2500"/>
            </a:avLst>
          </a:prstGeom>
          <a:solidFill>
            <a:srgbClr val="10151D"/>
          </a:solidFill>
          <a:ln/>
        </p:spPr>
      </p:sp>
      <p:pic>
        <p:nvPicPr>
          <p:cNvPr id="7" name="Image 1" descr="Recommendations screenshot: ranked cost-saving actions with estimated monthly savings and effort">    </p:cNvPr>
          <p:cNvPicPr>
            <a:picLocks noChangeAspect="1"/>
          </p:cNvPicPr>
          <p:nvPr/>
        </p:nvPicPr>
        <p:blipFill>
          <a:blip r:embed="rId2"/>
          <a:srcRect l="-24" r="-24" t="0" b="0"/>
          <a:stretch/>
        </p:blipFill>
        <p:spPr>
          <a:xfrm>
            <a:off x="6299200" y="1879600"/>
            <a:ext cx="5080000" cy="3048000"/>
          </a:xfrm>
          <a:prstGeom prst="roundRect">
            <a:avLst>
              <a:gd name="adj" fmla="val 2500"/>
            </a:avLst>
          </a:prstGeom>
        </p:spPr>
      </p:pic>
      <p:sp>
        <p:nvSpPr>
          <p:cNvPr id="8" name="Text 4"/>
          <p:cNvSpPr/>
          <p:nvPr/>
        </p:nvSpPr>
        <p:spPr>
          <a:xfrm>
            <a:off x="6299200" y="5029200"/>
            <a:ext cx="52324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9DEE6"/>
                </a:solidFill>
                <a:latin typeface="DM Sans" pitchFamily="34" charset="0"/>
                <a:ea typeface="DM Sans" pitchFamily="34" charset="-122"/>
                <a:cs typeface="DM Sans" pitchFamily="34" charset="-120"/>
              </a:rPr>
              <a:t>Recommendations with savings and effort</a:t>
            </a:r>
            <a:endParaRPr lang="en-US" sz="1400" dirty="0"/>
          </a:p>
        </p:txBody>
      </p:sp>
      <p:sp>
        <p:nvSpPr>
          <p:cNvPr id="9" name="Text 5"/>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3"/>
                </a:solidFill>
                <a:latin typeface="DM Sans" pitchFamily="34" charset="0"/>
                <a:ea typeface="DM Sans" pitchFamily="34" charset="-122"/>
                <a:cs typeface="DM Sans" pitchFamily="34" charset="-120"/>
              </a:rPr>
              <a:t>CloudWiseAI · BCSE355L · Local run, 16 Oct 2026 · Source: report, Figures 4 and 8</a:t>
            </a:r>
            <a:endParaRPr lang="en-US" sz="1200" dirty="0"/>
          </a:p>
        </p:txBody>
      </p:sp>
      <p:sp>
        <p:nvSpPr>
          <p:cNvPr id="10" name="Text 6"/>
          <p:cNvSpPr/>
          <p:nvPr/>
        </p:nvSpPr>
        <p:spPr>
          <a:xfrm>
            <a:off x="9469374" y="6238242"/>
            <a:ext cx="1909826"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0C3"/>
                </a:solidFill>
                <a:latin typeface="DM Sans" pitchFamily="34" charset="0"/>
                <a:ea typeface="DM Sans" pitchFamily="34" charset="-122"/>
                <a:cs typeface="DM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9810750"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Security and testing</a:t>
            </a:r>
            <a:endParaRPr lang="en-US" sz="3200" dirty="0"/>
          </a:p>
        </p:txBody>
      </p:sp>
      <p:sp>
        <p:nvSpPr>
          <p:cNvPr id="3" name="Shape 1"/>
          <p:cNvSpPr/>
          <p:nvPr/>
        </p:nvSpPr>
        <p:spPr>
          <a:xfrm>
            <a:off x="815975" y="1542417"/>
            <a:ext cx="5175250" cy="3011170"/>
          </a:xfrm>
          <a:prstGeom prst="roundRect">
            <a:avLst>
              <a:gd name="adj" fmla="val 4112"/>
            </a:avLst>
          </a:prstGeom>
          <a:solidFill>
            <a:srgbClr val="FFFFFF"/>
          </a:solidFill>
          <a:ln w="6350">
            <a:solidFill>
              <a:srgbClr val="DDDAD0"/>
            </a:solidFill>
            <a:prstDash val="solid"/>
          </a:ln>
        </p:spPr>
      </p:sp>
      <p:sp>
        <p:nvSpPr>
          <p:cNvPr id="4" name="Text 2"/>
          <p:cNvSpPr/>
          <p:nvPr/>
        </p:nvSpPr>
        <p:spPr>
          <a:xfrm>
            <a:off x="1071880" y="1798321"/>
            <a:ext cx="4803343" cy="31496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0B6E70"/>
                </a:solidFill>
                <a:latin typeface="DM Sans" pitchFamily="34" charset="0"/>
                <a:ea typeface="DM Sans" pitchFamily="34" charset="-122"/>
                <a:cs typeface="DM Sans" pitchFamily="34" charset="-120"/>
              </a:rPr>
              <a:t>Security design</a:t>
            </a:r>
            <a:endParaRPr lang="en-US" sz="1900" dirty="0"/>
          </a:p>
        </p:txBody>
      </p:sp>
      <p:sp>
        <p:nvSpPr>
          <p:cNvPr id="5" name="Text 3"/>
          <p:cNvSpPr/>
          <p:nvPr/>
        </p:nvSpPr>
        <p:spPr>
          <a:xfrm>
            <a:off x="1071880" y="2202179"/>
            <a:ext cx="491617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DM Sans" pitchFamily="34" charset="0"/>
                <a:ea typeface="DM Sans" pitchFamily="34" charset="-122"/>
                <a:cs typeface="DM Sans" pitchFamily="34" charset="-120"/>
              </a:rPr>
              <a:t>bcrypt password hashing and JWT tokens (24 hours)</a:t>
            </a:r>
            <a:endParaRPr lang="en-US" sz="1500" dirty="0"/>
          </a:p>
        </p:txBody>
      </p:sp>
      <p:sp>
        <p:nvSpPr>
          <p:cNvPr id="6" name="Text 4"/>
          <p:cNvSpPr/>
          <p:nvPr/>
        </p:nvSpPr>
        <p:spPr>
          <a:xfrm>
            <a:off x="1071880" y="2583179"/>
            <a:ext cx="480334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DM Sans" pitchFamily="34" charset="0"/>
                <a:ea typeface="DM Sans" pitchFamily="34" charset="-122"/>
                <a:cs typeface="DM Sans" pitchFamily="34" charset="-120"/>
              </a:rPr>
              <a:t>Every data route requires sign-in</a:t>
            </a:r>
            <a:endParaRPr lang="en-US" sz="1500" dirty="0"/>
          </a:p>
        </p:txBody>
      </p:sp>
      <p:sp>
        <p:nvSpPr>
          <p:cNvPr id="7" name="Text 5"/>
          <p:cNvSpPr/>
          <p:nvPr/>
        </p:nvSpPr>
        <p:spPr>
          <a:xfrm>
            <a:off x="1071880" y="2964179"/>
            <a:ext cx="480334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DM Sans" pitchFamily="34" charset="0"/>
                <a:ea typeface="DM Sans" pitchFamily="34" charset="-122"/>
                <a:cs typeface="DM Sans" pitchFamily="34" charset="-120"/>
              </a:rPr>
              <a:t>CORS limited to the frontend origin</a:t>
            </a:r>
            <a:endParaRPr lang="en-US" sz="1500" dirty="0"/>
          </a:p>
        </p:txBody>
      </p:sp>
      <p:sp>
        <p:nvSpPr>
          <p:cNvPr id="8" name="Text 6"/>
          <p:cNvSpPr/>
          <p:nvPr/>
        </p:nvSpPr>
        <p:spPr>
          <a:xfrm>
            <a:off x="1071880" y="3345179"/>
            <a:ext cx="480334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DM Sans" pitchFamily="34" charset="0"/>
                <a:ea typeface="DM Sans" pitchFamily="34" charset="-122"/>
                <a:cs typeface="DM Sans" pitchFamily="34" charset="-120"/>
              </a:rPr>
              <a:t>Assistant rate limited to 15 messages per minute</a:t>
            </a:r>
            <a:endParaRPr lang="en-US" sz="1500" dirty="0"/>
          </a:p>
        </p:txBody>
      </p:sp>
      <p:sp>
        <p:nvSpPr>
          <p:cNvPr id="9" name="Text 7"/>
          <p:cNvSpPr/>
          <p:nvPr/>
        </p:nvSpPr>
        <p:spPr>
          <a:xfrm>
            <a:off x="1071880" y="3726179"/>
            <a:ext cx="480334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DM Sans" pitchFamily="34" charset="0"/>
                <a:ea typeface="DM Sans" pitchFamily="34" charset="-122"/>
                <a:cs typeface="DM Sans" pitchFamily="34" charset="-120"/>
              </a:rPr>
              <a:t>AWS design: private RDS, no SSH, IAM role with Session Manager</a:t>
            </a:r>
            <a:endParaRPr lang="en-US" sz="1500" dirty="0"/>
          </a:p>
        </p:txBody>
      </p:sp>
      <p:sp>
        <p:nvSpPr>
          <p:cNvPr id="10" name="Shape 8"/>
          <p:cNvSpPr/>
          <p:nvPr/>
        </p:nvSpPr>
        <p:spPr>
          <a:xfrm>
            <a:off x="6200775" y="1542417"/>
            <a:ext cx="5175250" cy="3011170"/>
          </a:xfrm>
          <a:prstGeom prst="roundRect">
            <a:avLst>
              <a:gd name="adj" fmla="val 4112"/>
            </a:avLst>
          </a:prstGeom>
          <a:solidFill>
            <a:srgbClr val="FFFFFF"/>
          </a:solidFill>
          <a:ln w="6350">
            <a:solidFill>
              <a:srgbClr val="DDDAD0"/>
            </a:solidFill>
            <a:prstDash val="solid"/>
          </a:ln>
        </p:spPr>
      </p:sp>
      <p:sp>
        <p:nvSpPr>
          <p:cNvPr id="11" name="Text 9"/>
          <p:cNvSpPr/>
          <p:nvPr/>
        </p:nvSpPr>
        <p:spPr>
          <a:xfrm>
            <a:off x="6456680" y="1798321"/>
            <a:ext cx="4803343" cy="31496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0B6E70"/>
                </a:solidFill>
                <a:latin typeface="DM Sans" pitchFamily="34" charset="0"/>
                <a:ea typeface="DM Sans" pitchFamily="34" charset="-122"/>
                <a:cs typeface="DM Sans" pitchFamily="34" charset="-120"/>
              </a:rPr>
              <a:t>Testing</a:t>
            </a:r>
            <a:endParaRPr lang="en-US" sz="1900" dirty="0"/>
          </a:p>
        </p:txBody>
      </p:sp>
      <p:sp>
        <p:nvSpPr>
          <p:cNvPr id="12" name="Text 10"/>
          <p:cNvSpPr/>
          <p:nvPr/>
        </p:nvSpPr>
        <p:spPr>
          <a:xfrm>
            <a:off x="6456680" y="2202179"/>
            <a:ext cx="480334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DM Sans" pitchFamily="34" charset="0"/>
                <a:ea typeface="DM Sans" pitchFamily="34" charset="-122"/>
                <a:cs typeface="DM Sans" pitchFamily="34" charset="-120"/>
              </a:rPr>
              <a:t>11 of 14 test cases run locally on 16 Oct 2026: API, access control, input checks, repeatable data load, browser pages</a:t>
            </a:r>
            <a:endParaRPr lang="en-US" sz="1500" dirty="0"/>
          </a:p>
        </p:txBody>
      </p:sp>
      <p:sp>
        <p:nvSpPr>
          <p:cNvPr id="13" name="Text 11"/>
          <p:cNvSpPr/>
          <p:nvPr/>
        </p:nvSpPr>
        <p:spPr>
          <a:xfrm>
            <a:off x="6456680" y="3116579"/>
            <a:ext cx="480334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DM Sans" pitchFamily="34" charset="0"/>
                <a:ea typeface="DM Sans" pitchFamily="34" charset="-122"/>
                <a:cs typeface="DM Sans" pitchFamily="34" charset="-120"/>
              </a:rPr>
              <a:t>3 AWS tests (live site, API health, alarm e-mail) not run until deployment</a:t>
            </a:r>
            <a:endParaRPr lang="en-US" sz="1500" dirty="0"/>
          </a:p>
        </p:txBody>
      </p:sp>
      <p:sp>
        <p:nvSpPr>
          <p:cNvPr id="14" name="Text 12"/>
          <p:cNvSpPr/>
          <p:nvPr/>
        </p:nvSpPr>
        <p:spPr>
          <a:xfrm>
            <a:off x="6456680" y="3764279"/>
            <a:ext cx="480334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DM Sans" pitchFamily="34" charset="0"/>
                <a:ea typeface="DM Sans" pitchFamily="34" charset="-122"/>
                <a:cs typeface="DM Sans" pitchFamily="34" charset="-120"/>
              </a:rPr>
              <a:t>Setup script tested end to end on a local server; a second run adds no duplicate rows</a:t>
            </a:r>
            <a:endParaRPr lang="en-US" sz="1500" dirty="0"/>
          </a:p>
        </p:txBody>
      </p:sp>
      <p:sp>
        <p:nvSpPr>
          <p:cNvPr id="15" name="Text 13"/>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6"/>
                </a:solidFill>
                <a:latin typeface="DM Sans" pitchFamily="34" charset="0"/>
                <a:ea typeface="DM Sans" pitchFamily="34" charset="-122"/>
                <a:cs typeface="DM Sans" pitchFamily="34" charset="-120"/>
              </a:rPr>
              <a:t>CloudWiseAI · BCSE355L · Source: report, Sections 5.5 and 10.1</a:t>
            </a:r>
            <a:endParaRPr lang="en-US" sz="1200" dirty="0"/>
          </a:p>
        </p:txBody>
      </p:sp>
      <p:sp>
        <p:nvSpPr>
          <p:cNvPr id="16" name="Text 14"/>
          <p:cNvSpPr/>
          <p:nvPr/>
        </p:nvSpPr>
        <p:spPr>
          <a:xfrm>
            <a:off x="9469374" y="6238242"/>
            <a:ext cx="1909826"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6"/>
                </a:solidFill>
                <a:latin typeface="DM Sans" pitchFamily="34" charset="0"/>
                <a:ea typeface="DM Sans" pitchFamily="34" charset="-122"/>
                <a:cs typeface="DM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9810750" cy="9194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AWS status: designed and scripted, live deployment next</a:t>
            </a:r>
            <a:endParaRPr lang="en-US" sz="3200" dirty="0"/>
          </a:p>
        </p:txBody>
      </p:sp>
      <p:sp>
        <p:nvSpPr>
          <p:cNvPr id="3" name="Shape 1"/>
          <p:cNvSpPr/>
          <p:nvPr/>
        </p:nvSpPr>
        <p:spPr>
          <a:xfrm>
            <a:off x="815975" y="1989454"/>
            <a:ext cx="5175250" cy="2642870"/>
          </a:xfrm>
          <a:prstGeom prst="roundRect">
            <a:avLst>
              <a:gd name="adj" fmla="val 4685"/>
            </a:avLst>
          </a:prstGeom>
          <a:solidFill>
            <a:srgbClr val="FFFFFF"/>
          </a:solidFill>
          <a:ln w="6350">
            <a:solidFill>
              <a:srgbClr val="DDDAD0"/>
            </a:solidFill>
            <a:prstDash val="solid"/>
          </a:ln>
        </p:spPr>
      </p:sp>
      <p:sp>
        <p:nvSpPr>
          <p:cNvPr id="4" name="Text 2"/>
          <p:cNvSpPr/>
          <p:nvPr/>
        </p:nvSpPr>
        <p:spPr>
          <a:xfrm>
            <a:off x="1071880" y="2245364"/>
            <a:ext cx="4803343" cy="31496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0B6E70"/>
                </a:solidFill>
                <a:latin typeface="DM Sans" pitchFamily="34" charset="0"/>
                <a:ea typeface="DM Sans" pitchFamily="34" charset="-122"/>
                <a:cs typeface="DM Sans" pitchFamily="34" charset="-120"/>
              </a:rPr>
              <a:t>Done</a:t>
            </a:r>
            <a:endParaRPr lang="en-US" sz="1900" dirty="0"/>
          </a:p>
        </p:txBody>
      </p:sp>
      <p:sp>
        <p:nvSpPr>
          <p:cNvPr id="5" name="Text 3"/>
          <p:cNvSpPr/>
          <p:nvPr/>
        </p:nvSpPr>
        <p:spPr>
          <a:xfrm>
            <a:off x="1071880" y="2636521"/>
            <a:ext cx="480334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DM Sans" pitchFamily="34" charset="0"/>
                <a:ea typeface="DM Sans" pitchFamily="34" charset="-122"/>
                <a:cs typeface="DM Sans" pitchFamily="34" charset="-120"/>
              </a:rPr>
              <a:t>Architecture and security design</a:t>
            </a:r>
            <a:endParaRPr lang="en-US" sz="1500" dirty="0"/>
          </a:p>
        </p:txBody>
      </p:sp>
      <p:sp>
        <p:nvSpPr>
          <p:cNvPr id="6" name="Text 4"/>
          <p:cNvSpPr/>
          <p:nvPr/>
        </p:nvSpPr>
        <p:spPr>
          <a:xfrm>
            <a:off x="1071880" y="3004821"/>
            <a:ext cx="480334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DM Sans" pitchFamily="34" charset="0"/>
                <a:ea typeface="DM Sans" pitchFamily="34" charset="-122"/>
                <a:cs typeface="DM Sans" pitchFamily="34" charset="-120"/>
              </a:rPr>
              <a:t>One-script EC2 setup (tested locally)</a:t>
            </a:r>
            <a:endParaRPr lang="en-US" sz="1500" dirty="0"/>
          </a:p>
        </p:txBody>
      </p:sp>
      <p:sp>
        <p:nvSpPr>
          <p:cNvPr id="7" name="Text 5"/>
          <p:cNvSpPr/>
          <p:nvPr/>
        </p:nvSpPr>
        <p:spPr>
          <a:xfrm>
            <a:off x="1071880" y="3373121"/>
            <a:ext cx="480334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DM Sans" pitchFamily="34" charset="0"/>
                <a:ea typeface="DM Sans" pitchFamily="34" charset="-122"/>
                <a:cs typeface="DM Sans" pitchFamily="34" charset="-120"/>
              </a:rPr>
              <a:t>Step-by-step deployment guide, teardown order</a:t>
            </a:r>
            <a:endParaRPr lang="en-US" sz="1500" dirty="0"/>
          </a:p>
        </p:txBody>
      </p:sp>
      <p:sp>
        <p:nvSpPr>
          <p:cNvPr id="8" name="Text 6"/>
          <p:cNvSpPr/>
          <p:nvPr/>
        </p:nvSpPr>
        <p:spPr>
          <a:xfrm>
            <a:off x="1071880" y="3741421"/>
            <a:ext cx="480334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DM Sans" pitchFamily="34" charset="0"/>
                <a:ea typeface="DM Sans" pitchFamily="34" charset="-122"/>
                <a:cs typeface="DM Sans" pitchFamily="34" charset="-120"/>
              </a:rPr>
              <a:t>CloudWatch and SNS alarm commands</a:t>
            </a:r>
            <a:endParaRPr lang="en-US" sz="1500" dirty="0"/>
          </a:p>
        </p:txBody>
      </p:sp>
      <p:sp>
        <p:nvSpPr>
          <p:cNvPr id="9" name="Text 7"/>
          <p:cNvSpPr/>
          <p:nvPr/>
        </p:nvSpPr>
        <p:spPr>
          <a:xfrm>
            <a:off x="1071880" y="4109721"/>
            <a:ext cx="491617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DM Sans" pitchFamily="34" charset="0"/>
                <a:ea typeface="DM Sans" pitchFamily="34" charset="-122"/>
                <a:cs typeface="DM Sans" pitchFamily="34" charset="-120"/>
              </a:rPr>
              <a:t>Cost estimate: about $29 per month if run all month</a:t>
            </a:r>
            <a:endParaRPr lang="en-US" sz="1500" dirty="0"/>
          </a:p>
        </p:txBody>
      </p:sp>
      <p:sp>
        <p:nvSpPr>
          <p:cNvPr id="10" name="Shape 8"/>
          <p:cNvSpPr/>
          <p:nvPr/>
        </p:nvSpPr>
        <p:spPr>
          <a:xfrm>
            <a:off x="6200775" y="1989454"/>
            <a:ext cx="5175250" cy="2642870"/>
          </a:xfrm>
          <a:prstGeom prst="roundRect">
            <a:avLst>
              <a:gd name="adj" fmla="val 4685"/>
            </a:avLst>
          </a:prstGeom>
          <a:solidFill>
            <a:srgbClr val="FFFFFF"/>
          </a:solidFill>
          <a:ln w="6350">
            <a:solidFill>
              <a:srgbClr val="DDDAD0"/>
            </a:solidFill>
            <a:prstDash val="solid"/>
          </a:ln>
        </p:spPr>
      </p:sp>
      <p:sp>
        <p:nvSpPr>
          <p:cNvPr id="11" name="Text 9"/>
          <p:cNvSpPr/>
          <p:nvPr/>
        </p:nvSpPr>
        <p:spPr>
          <a:xfrm>
            <a:off x="6456680" y="2245364"/>
            <a:ext cx="4803343" cy="31496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8A5A00"/>
                </a:solidFill>
                <a:latin typeface="DM Sans" pitchFamily="34" charset="0"/>
                <a:ea typeface="DM Sans" pitchFamily="34" charset="-122"/>
                <a:cs typeface="DM Sans" pitchFamily="34" charset="-120"/>
              </a:rPr>
              <a:t>Next</a:t>
            </a:r>
            <a:endParaRPr lang="en-US" sz="1900" dirty="0"/>
          </a:p>
        </p:txBody>
      </p:sp>
      <p:sp>
        <p:nvSpPr>
          <p:cNvPr id="12" name="Text 10"/>
          <p:cNvSpPr/>
          <p:nvPr/>
        </p:nvSpPr>
        <p:spPr>
          <a:xfrm>
            <a:off x="6456680" y="2636521"/>
            <a:ext cx="480334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DM Sans" pitchFamily="34" charset="0"/>
                <a:ea typeface="DM Sans" pitchFamily="34" charset="-122"/>
                <a:cs typeface="DM Sans" pitchFamily="34" charset="-120"/>
              </a:rPr>
              <a:t>Create RDS, EC2, API Gateway, S3, CloudFront</a:t>
            </a:r>
            <a:endParaRPr lang="en-US" sz="1500" dirty="0"/>
          </a:p>
        </p:txBody>
      </p:sp>
      <p:sp>
        <p:nvSpPr>
          <p:cNvPr id="13" name="Text 11"/>
          <p:cNvSpPr/>
          <p:nvPr/>
        </p:nvSpPr>
        <p:spPr>
          <a:xfrm>
            <a:off x="6456680" y="3004821"/>
            <a:ext cx="480334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DM Sans" pitchFamily="34" charset="0"/>
                <a:ea typeface="DM Sans" pitchFamily="34" charset="-122"/>
                <a:cs typeface="DM Sans" pitchFamily="34" charset="-120"/>
              </a:rPr>
              <a:t>Run tests T09 to T11 and capture console evidence</a:t>
            </a:r>
            <a:endParaRPr lang="en-US" sz="1500" dirty="0"/>
          </a:p>
        </p:txBody>
      </p:sp>
      <p:sp>
        <p:nvSpPr>
          <p:cNvPr id="14" name="Text 12"/>
          <p:cNvSpPr/>
          <p:nvPr/>
        </p:nvSpPr>
        <p:spPr>
          <a:xfrm>
            <a:off x="6456680" y="3373121"/>
            <a:ext cx="480334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DM Sans" pitchFamily="34" charset="0"/>
                <a:ea typeface="DM Sans" pitchFamily="34" charset="-122"/>
                <a:cs typeface="DM Sans" pitchFamily="34" charset="-120"/>
              </a:rPr>
              <a:t>Keep spend inside new-account credits, then delete everything</a:t>
            </a:r>
            <a:endParaRPr lang="en-US" sz="1500" dirty="0"/>
          </a:p>
        </p:txBody>
      </p:sp>
      <p:sp>
        <p:nvSpPr>
          <p:cNvPr id="15" name="Text 13"/>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6"/>
                </a:solidFill>
                <a:latin typeface="DM Sans" pitchFamily="34" charset="0"/>
                <a:ea typeface="DM Sans" pitchFamily="34" charset="-122"/>
                <a:cs typeface="DM Sans" pitchFamily="34" charset="-120"/>
              </a:rPr>
              <a:t>CloudWiseAI · BCSE355L · Cost figure is an approximation · Source: report, Section 7</a:t>
            </a:r>
            <a:endParaRPr lang="en-US" sz="1200" dirty="0"/>
          </a:p>
        </p:txBody>
      </p:sp>
      <p:sp>
        <p:nvSpPr>
          <p:cNvPr id="16" name="Text 14"/>
          <p:cNvSpPr/>
          <p:nvPr/>
        </p:nvSpPr>
        <p:spPr>
          <a:xfrm>
            <a:off x="9469374" y="6238242"/>
            <a:ext cx="1909826"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6"/>
                </a:solidFill>
                <a:latin typeface="DM Sans" pitchFamily="34" charset="0"/>
                <a:ea typeface="DM Sans" pitchFamily="34" charset="-122"/>
                <a:cs typeface="DM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9810750"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Limitations and future work</a:t>
            </a:r>
            <a:endParaRPr lang="en-US" sz="3200" dirty="0"/>
          </a:p>
        </p:txBody>
      </p:sp>
      <p:sp>
        <p:nvSpPr>
          <p:cNvPr id="3" name="Shape 1"/>
          <p:cNvSpPr/>
          <p:nvPr/>
        </p:nvSpPr>
        <p:spPr>
          <a:xfrm>
            <a:off x="815975" y="1542417"/>
            <a:ext cx="5175250" cy="2541270"/>
          </a:xfrm>
          <a:prstGeom prst="roundRect">
            <a:avLst>
              <a:gd name="adj" fmla="val 4873"/>
            </a:avLst>
          </a:prstGeom>
          <a:solidFill>
            <a:srgbClr val="FFFFFF"/>
          </a:solidFill>
          <a:ln w="6350">
            <a:solidFill>
              <a:srgbClr val="DDDAD0"/>
            </a:solidFill>
            <a:prstDash val="solid"/>
          </a:ln>
        </p:spPr>
      </p:sp>
      <p:sp>
        <p:nvSpPr>
          <p:cNvPr id="4" name="Text 2"/>
          <p:cNvSpPr/>
          <p:nvPr/>
        </p:nvSpPr>
        <p:spPr>
          <a:xfrm>
            <a:off x="1071880" y="1798321"/>
            <a:ext cx="4803343" cy="31496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8A5A00"/>
                </a:solidFill>
                <a:latin typeface="DM Sans" pitchFamily="34" charset="0"/>
                <a:ea typeface="DM Sans" pitchFamily="34" charset="-122"/>
                <a:cs typeface="DM Sans" pitchFamily="34" charset="-120"/>
              </a:rPr>
              <a:t>Limitations</a:t>
            </a:r>
            <a:endParaRPr lang="en-US" sz="1900" dirty="0"/>
          </a:p>
        </p:txBody>
      </p:sp>
      <p:sp>
        <p:nvSpPr>
          <p:cNvPr id="5" name="Text 3"/>
          <p:cNvSpPr/>
          <p:nvPr/>
        </p:nvSpPr>
        <p:spPr>
          <a:xfrm>
            <a:off x="1071880" y="2189479"/>
            <a:ext cx="480334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DM Sans" pitchFamily="34" charset="0"/>
                <a:ea typeface="DM Sans" pitchFamily="34" charset="-122"/>
                <a:cs typeface="DM Sans" pitchFamily="34" charset="-120"/>
              </a:rPr>
              <a:t>Synthetic data: the accuracy figures are optimistic and need real invoices</a:t>
            </a:r>
            <a:endParaRPr lang="en-US" sz="1500" dirty="0"/>
          </a:p>
        </p:txBody>
      </p:sp>
      <p:sp>
        <p:nvSpPr>
          <p:cNvPr id="6" name="Text 4"/>
          <p:cNvSpPr/>
          <p:nvPr/>
        </p:nvSpPr>
        <p:spPr>
          <a:xfrm>
            <a:off x="1071880" y="2824479"/>
            <a:ext cx="480334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DM Sans" pitchFamily="34" charset="0"/>
                <a:ea typeface="DM Sans" pitchFamily="34" charset="-122"/>
                <a:cs typeface="DM Sans" pitchFamily="34" charset="-120"/>
              </a:rPr>
              <a:t>Savings rest on stated assumptions</a:t>
            </a:r>
            <a:endParaRPr lang="en-US" sz="1500" dirty="0"/>
          </a:p>
        </p:txBody>
      </p:sp>
      <p:sp>
        <p:nvSpPr>
          <p:cNvPr id="7" name="Text 5"/>
          <p:cNvSpPr/>
          <p:nvPr/>
        </p:nvSpPr>
        <p:spPr>
          <a:xfrm>
            <a:off x="1071880" y="3192779"/>
            <a:ext cx="491617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DM Sans" pitchFamily="34" charset="0"/>
                <a:ea typeface="DM Sans" pitchFamily="34" charset="-122"/>
                <a:cs typeface="DM Sans" pitchFamily="34" charset="-120"/>
              </a:rPr>
              <a:t>Single instance, port 8000 open behind API Gateway</a:t>
            </a:r>
            <a:endParaRPr lang="en-US" sz="1500" dirty="0"/>
          </a:p>
        </p:txBody>
      </p:sp>
      <p:sp>
        <p:nvSpPr>
          <p:cNvPr id="8" name="Text 6"/>
          <p:cNvSpPr/>
          <p:nvPr/>
        </p:nvSpPr>
        <p:spPr>
          <a:xfrm>
            <a:off x="1071880" y="3561079"/>
            <a:ext cx="480334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DM Sans" pitchFamily="34" charset="0"/>
                <a:ea typeface="DM Sans" pitchFamily="34" charset="-122"/>
                <a:cs typeface="DM Sans" pitchFamily="34" charset="-120"/>
              </a:rPr>
              <a:t>Assistant runs on a local model and can be wrong</a:t>
            </a:r>
            <a:endParaRPr lang="en-US" sz="1500" dirty="0"/>
          </a:p>
        </p:txBody>
      </p:sp>
      <p:sp>
        <p:nvSpPr>
          <p:cNvPr id="9" name="Shape 7"/>
          <p:cNvSpPr/>
          <p:nvPr/>
        </p:nvSpPr>
        <p:spPr>
          <a:xfrm>
            <a:off x="6200775" y="1542417"/>
            <a:ext cx="5175250" cy="2541270"/>
          </a:xfrm>
          <a:prstGeom prst="roundRect">
            <a:avLst>
              <a:gd name="adj" fmla="val 4873"/>
            </a:avLst>
          </a:prstGeom>
          <a:solidFill>
            <a:srgbClr val="FFFFFF"/>
          </a:solidFill>
          <a:ln w="6350">
            <a:solidFill>
              <a:srgbClr val="DDDAD0"/>
            </a:solidFill>
            <a:prstDash val="solid"/>
          </a:ln>
        </p:spPr>
      </p:sp>
      <p:sp>
        <p:nvSpPr>
          <p:cNvPr id="10" name="Text 8"/>
          <p:cNvSpPr/>
          <p:nvPr/>
        </p:nvSpPr>
        <p:spPr>
          <a:xfrm>
            <a:off x="6456680" y="1798321"/>
            <a:ext cx="4803343" cy="31496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0B6E70"/>
                </a:solidFill>
                <a:latin typeface="DM Sans" pitchFamily="34" charset="0"/>
                <a:ea typeface="DM Sans" pitchFamily="34" charset="-122"/>
                <a:cs typeface="DM Sans" pitchFamily="34" charset="-120"/>
              </a:rPr>
              <a:t>Future work</a:t>
            </a:r>
            <a:endParaRPr lang="en-US" sz="1900" dirty="0"/>
          </a:p>
        </p:txBody>
      </p:sp>
      <p:sp>
        <p:nvSpPr>
          <p:cNvPr id="11" name="Text 9"/>
          <p:cNvSpPr/>
          <p:nvPr/>
        </p:nvSpPr>
        <p:spPr>
          <a:xfrm>
            <a:off x="6456680" y="2189479"/>
            <a:ext cx="480334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DM Sans" pitchFamily="34" charset="0"/>
                <a:ea typeface="DM Sans" pitchFamily="34" charset="-122"/>
                <a:cs typeface="DM Sans" pitchFamily="34" charset="-120"/>
              </a:rPr>
              <a:t>Deploy on AWS and run tests T09 to T11</a:t>
            </a:r>
            <a:endParaRPr lang="en-US" sz="1500" dirty="0"/>
          </a:p>
        </p:txBody>
      </p:sp>
      <p:sp>
        <p:nvSpPr>
          <p:cNvPr id="12" name="Text 10"/>
          <p:cNvSpPr/>
          <p:nvPr/>
        </p:nvSpPr>
        <p:spPr>
          <a:xfrm>
            <a:off x="6456680" y="2557779"/>
            <a:ext cx="480334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DM Sans" pitchFamily="34" charset="0"/>
                <a:ea typeface="DM Sans" pitchFamily="34" charset="-122"/>
                <a:cs typeface="DM Sans" pitchFamily="34" charset="-120"/>
              </a:rPr>
              <a:t>Validate on a real Cost and Usage Report</a:t>
            </a:r>
            <a:endParaRPr lang="en-US" sz="1500" dirty="0"/>
          </a:p>
        </p:txBody>
      </p:sp>
      <p:sp>
        <p:nvSpPr>
          <p:cNvPr id="13" name="Text 11"/>
          <p:cNvSpPr/>
          <p:nvPr/>
        </p:nvSpPr>
        <p:spPr>
          <a:xfrm>
            <a:off x="6456680" y="2926079"/>
            <a:ext cx="480334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DM Sans" pitchFamily="34" charset="0"/>
                <a:ea typeface="DM Sans" pitchFamily="34" charset="-122"/>
                <a:cs typeface="DM Sans" pitchFamily="34" charset="-120"/>
              </a:rPr>
              <a:t>Lambda ingestion, SageMaker training, QuickSight</a:t>
            </a:r>
            <a:endParaRPr lang="en-US" sz="1500" dirty="0"/>
          </a:p>
        </p:txBody>
      </p:sp>
      <p:sp>
        <p:nvSpPr>
          <p:cNvPr id="14" name="Text 12"/>
          <p:cNvSpPr/>
          <p:nvPr/>
        </p:nvSpPr>
        <p:spPr>
          <a:xfrm>
            <a:off x="6456680" y="3294379"/>
            <a:ext cx="480334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DM Sans" pitchFamily="34" charset="0"/>
                <a:ea typeface="DM Sans" pitchFamily="34" charset="-122"/>
                <a:cs typeface="DM Sans" pitchFamily="34" charset="-120"/>
              </a:rPr>
              <a:t>VPC Link, load balancer with Auto Scaling, Multi-AZ RDS, Cognito, WAF</a:t>
            </a:r>
            <a:endParaRPr lang="en-US" sz="1500" dirty="0"/>
          </a:p>
        </p:txBody>
      </p:sp>
      <p:sp>
        <p:nvSpPr>
          <p:cNvPr id="15" name="Text 13"/>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6"/>
                </a:solidFill>
                <a:latin typeface="DM Sans" pitchFamily="34" charset="0"/>
                <a:ea typeface="DM Sans" pitchFamily="34" charset="-122"/>
                <a:cs typeface="DM Sans" pitchFamily="34" charset="-120"/>
              </a:rPr>
              <a:t>CloudWiseAI · BCSE355L · Source: report, Sections 11 and 13</a:t>
            </a:r>
            <a:endParaRPr lang="en-US" sz="1200" dirty="0"/>
          </a:p>
        </p:txBody>
      </p:sp>
      <p:sp>
        <p:nvSpPr>
          <p:cNvPr id="16" name="Text 14"/>
          <p:cNvSpPr/>
          <p:nvPr/>
        </p:nvSpPr>
        <p:spPr>
          <a:xfrm>
            <a:off x="9469374" y="6238242"/>
            <a:ext cx="1909826"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6"/>
                </a:solidFill>
                <a:latin typeface="DM Sans" pitchFamily="34" charset="0"/>
                <a:ea typeface="DM Sans" pitchFamily="34" charset="-122"/>
                <a:cs typeface="DM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A2B"/>
        </a:solidFill>
      </p:bgPr>
    </p:bg>
    <p:spTree>
      <p:nvGrpSpPr>
        <p:cNvPr id="1" name=""/>
        <p:cNvGrpSpPr/>
        <p:nvPr/>
      </p:nvGrpSpPr>
      <p:grpSpPr>
        <a:xfrm>
          <a:off x="0" y="0"/>
          <a:ext cx="0" cy="0"/>
          <a:chOff x="0" y="0"/>
          <a:chExt cx="0" cy="0"/>
        </a:xfrm>
      </p:grpSpPr>
      <p:sp>
        <p:nvSpPr>
          <p:cNvPr id="2" name="Text 0"/>
          <p:cNvSpPr/>
          <p:nvPr>
            <p:ph type="title"/>
          </p:nvPr>
        </p:nvSpPr>
        <p:spPr>
          <a:xfrm>
            <a:off x="812800" y="2219964"/>
            <a:ext cx="10883392" cy="878840"/>
          </a:xfrm>
          <a:prstGeom prst="rect">
            <a:avLst/>
          </a:prstGeom>
          <a:noFill/>
          <a:ln/>
        </p:spPr>
        <p:txBody>
          <a:bodyPr wrap="square" lIns="0" tIns="0" rIns="0" bIns="0" rtlCol="0" anchor="t">
            <a:normAutofit/>
          </a:bodyPr>
          <a:lstStyle/>
          <a:p>
            <a:pPr algn="l" indent="0" marL="0">
              <a:lnSpc>
                <a:spcPts val="6720"/>
              </a:lnSpc>
              <a:buNone/>
            </a:pPr>
            <a:r>
              <a:rPr lang="en-US" sz="6400" b="1" i="0" dirty="0">
                <a:solidFill>
                  <a:srgbClr val="F5F4EE"/>
                </a:solidFill>
                <a:latin typeface="DM Sans" pitchFamily="34" charset="0"/>
                <a:ea typeface="DM Sans" pitchFamily="34" charset="-122"/>
                <a:cs typeface="DM Sans" pitchFamily="34" charset="-120"/>
              </a:rPr>
              <a:t>Thank you</a:t>
            </a:r>
            <a:endParaRPr lang="en-US" sz="6400" dirty="0"/>
          </a:p>
        </p:txBody>
      </p:sp>
      <p:sp>
        <p:nvSpPr>
          <p:cNvPr id="3" name="Text 1"/>
          <p:cNvSpPr/>
          <p:nvPr/>
        </p:nvSpPr>
        <p:spPr>
          <a:xfrm>
            <a:off x="812800" y="3302000"/>
            <a:ext cx="10883392" cy="38862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D9DEE6"/>
                </a:solidFill>
                <a:latin typeface="DM Sans" pitchFamily="34" charset="0"/>
                <a:ea typeface="DM Sans" pitchFamily="34" charset="-122"/>
                <a:cs typeface="DM Sans" pitchFamily="34" charset="-120"/>
              </a:rPr>
              <a:t>Questions?</a:t>
            </a:r>
            <a:endParaRPr lang="en-US" sz="2200" dirty="0"/>
          </a:p>
        </p:txBody>
      </p:sp>
      <p:sp>
        <p:nvSpPr>
          <p:cNvPr id="4" name="Text 2"/>
          <p:cNvSpPr/>
          <p:nvPr/>
        </p:nvSpPr>
        <p:spPr>
          <a:xfrm>
            <a:off x="812800" y="389382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CC8C0"/>
                </a:solidFill>
                <a:latin typeface="DM Sans" pitchFamily="34" charset="0"/>
                <a:ea typeface="DM Sans" pitchFamily="34" charset="-122"/>
                <a:cs typeface="DM Sans" pitchFamily="34" charset="-120"/>
              </a:rPr>
              <a:t>github.com/rahulg1310/CloudWiseAI_Cloud_Project_2026</a:t>
            </a:r>
            <a:endParaRPr lang="en-US" sz="1500" dirty="0"/>
          </a:p>
        </p:txBody>
      </p:sp>
      <p:sp>
        <p:nvSpPr>
          <p:cNvPr id="5" name="Text 3"/>
          <p:cNvSpPr/>
          <p:nvPr/>
        </p:nvSpPr>
        <p:spPr>
          <a:xfrm>
            <a:off x="812800" y="4389121"/>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FB0C3"/>
                </a:solidFill>
                <a:latin typeface="DM Sans" pitchFamily="34" charset="0"/>
                <a:ea typeface="DM Sans" pitchFamily="34" charset="-122"/>
                <a:cs typeface="DM Sans" pitchFamily="34" charset="-120"/>
              </a:rPr>
              <a:t>Rahul Ganesan · Ridhima Singh · Akhilesh Reddy</a:t>
            </a:r>
            <a:endParaRPr lang="en-US" sz="1400" dirty="0"/>
          </a:p>
        </p:txBody>
      </p:sp>
    </p:spTree>
  </p:cSld>
  <p:clrMapOvr>
    <a:masterClrMapping/>
  </p:clrMapOvr>
</p:sld>
</file>

<file path=ppt/theme/theme1.xml><?xml version="1.0" encoding="utf-8"?>
<a:theme xmlns:a="http://schemas.openxmlformats.org/drawingml/2006/main" name="CloudWiseAI Project Review">
  <a:themeElements>
    <a:clrScheme name="CloudWiseAI Project Review">
      <a:dk1>
        <a:srgbClr val="14213D"/>
      </a:dk1>
      <a:lt1>
        <a:srgbClr val="F5F4EE"/>
      </a:lt1>
      <a:dk2>
        <a:srgbClr val="4C5669"/>
      </a:dk2>
      <a:lt2>
        <a:srgbClr val="DFDFDC"/>
      </a:lt2>
      <a:accent1>
        <a:srgbClr val="0B6E70"/>
      </a:accent1>
      <a:accent2>
        <a:srgbClr val="3CC8C0"/>
      </a:accent2>
      <a:accent3>
        <a:srgbClr val="8A5A00"/>
      </a:accent3>
      <a:accent4>
        <a:srgbClr val="F7DFA6"/>
      </a:accent4>
      <a:accent5>
        <a:srgbClr val="3D4A5C"/>
      </a:accent5>
      <a:accent6>
        <a:srgbClr val="5B6676"/>
      </a:accent6>
      <a:hlink>
        <a:srgbClr val="0563C1"/>
      </a:hlink>
      <a:folHlink>
        <a:srgbClr val="954F72"/>
      </a:folHlink>
    </a:clrScheme>
    <a:fontScheme name="CloudWiseAI Project Review">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CloudWiseAI Project Review</dc:title>
  <dc:subject/>
  <dc:creator/>
  <cp:lastModifiedBy/>
  <cp:revision>1</cp:revision>
  <dcterms:created xsi:type="dcterms:W3CDTF">2026-10-19T04:40:40Z</dcterms:created>
  <dcterms:modified xsi:type="dcterms:W3CDTF">2026-10-19T04:40:40Z</dcterms:modified>
</cp:coreProperties>
</file>